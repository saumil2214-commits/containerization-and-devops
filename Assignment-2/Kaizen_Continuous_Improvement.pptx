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0121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8A97B"/>
          </a:solidFill>
          <a:ln w="12700">
            <a:solidFill>
              <a:srgbClr val="18A97B"/>
            </a:solidFill>
            <a:prstDash val="solid"/>
          </a:ln>
        </p:spPr>
      </p:sp>
      <p:sp>
        <p:nvSpPr>
          <p:cNvPr id="3" name="Shape 1"/>
          <p:cNvSpPr/>
          <p:nvPr/>
        </p:nvSpPr>
        <p:spPr>
          <a:xfrm>
            <a:off x="0" y="73152"/>
            <a:ext cx="320040" cy="5070348"/>
          </a:xfrm>
          <a:prstGeom prst="rect">
            <a:avLst/>
          </a:prstGeom>
          <a:solidFill>
            <a:srgbClr val="0A7C5C"/>
          </a:solidFill>
          <a:ln w="12700">
            <a:solidFill>
              <a:srgbClr val="0A7C5C"/>
            </a:solidFill>
            <a:prstDash val="solid"/>
          </a:ln>
        </p:spPr>
      </p:sp>
      <p:sp>
        <p:nvSpPr>
          <p:cNvPr id="4" name="Text 2"/>
          <p:cNvSpPr/>
          <p:nvPr/>
        </p:nvSpPr>
        <p:spPr>
          <a:xfrm>
            <a:off x="548640" y="274320"/>
            <a:ext cx="8229600" cy="320040"/>
          </a:xfrm>
          <a:prstGeom prst="rect">
            <a:avLst/>
          </a:prstGeom>
          <a:noFill/>
          <a:ln/>
        </p:spPr>
        <p:txBody>
          <a:bodyPr wrap="square" rtlCol="0" anchor="ctr"/>
          <a:lstStyle/>
          <a:p>
            <a:pPr marL="0" indent="0">
              <a:buNone/>
            </a:pPr>
            <a:r>
              <a:rPr lang="en-US" sz="1100" i="1" dirty="0">
                <a:solidFill>
                  <a:srgbClr val="CBD5E0"/>
                </a:solidFill>
                <a:latin typeface="Calibri" pitchFamily="34" charset="0"/>
                <a:ea typeface="Calibri" pitchFamily="34" charset="-122"/>
                <a:cs typeface="Calibri" pitchFamily="34" charset="-120"/>
              </a:rPr>
              <a:t>Containerization &amp; DevOps | Assignment II</a:t>
            </a:r>
            <a:endParaRPr lang="en-US" sz="1100" dirty="0"/>
          </a:p>
        </p:txBody>
      </p:sp>
      <p:sp>
        <p:nvSpPr>
          <p:cNvPr id="5" name="Text 3"/>
          <p:cNvSpPr/>
          <p:nvPr/>
        </p:nvSpPr>
        <p:spPr>
          <a:xfrm>
            <a:off x="548640" y="914400"/>
            <a:ext cx="7772400" cy="777240"/>
          </a:xfrm>
          <a:prstGeom prst="rect">
            <a:avLst/>
          </a:prstGeom>
          <a:noFill/>
          <a:ln/>
        </p:spPr>
        <p:txBody>
          <a:bodyPr wrap="square"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Kaizen and</a:t>
            </a:r>
            <a:endParaRPr lang="en-US" sz="5200" dirty="0"/>
          </a:p>
        </p:txBody>
      </p:sp>
      <p:sp>
        <p:nvSpPr>
          <p:cNvPr id="6" name="Text 4"/>
          <p:cNvSpPr/>
          <p:nvPr/>
        </p:nvSpPr>
        <p:spPr>
          <a:xfrm>
            <a:off x="548640" y="1691640"/>
            <a:ext cx="7772400" cy="685800"/>
          </a:xfrm>
          <a:prstGeom prst="rect">
            <a:avLst/>
          </a:prstGeom>
          <a:noFill/>
          <a:ln/>
        </p:spPr>
        <p:txBody>
          <a:bodyPr wrap="square" rtlCol="0" anchor="ctr"/>
          <a:lstStyle/>
          <a:p>
            <a:pPr marL="0" indent="0">
              <a:buNone/>
            </a:pPr>
            <a:r>
              <a:rPr lang="en-US" sz="3600" dirty="0">
                <a:solidFill>
                  <a:srgbClr val="18A97B"/>
                </a:solidFill>
                <a:latin typeface="Georgia" pitchFamily="34" charset="0"/>
                <a:ea typeface="Georgia" pitchFamily="34" charset="-122"/>
                <a:cs typeface="Georgia" pitchFamily="34" charset="-120"/>
              </a:rPr>
              <a:t>Continuous Improvement</a:t>
            </a:r>
            <a:endParaRPr lang="en-US" sz="3600" dirty="0"/>
          </a:p>
        </p:txBody>
      </p:sp>
      <p:sp>
        <p:nvSpPr>
          <p:cNvPr id="7" name="Shape 5"/>
          <p:cNvSpPr/>
          <p:nvPr/>
        </p:nvSpPr>
        <p:spPr>
          <a:xfrm>
            <a:off x="548640" y="2514600"/>
            <a:ext cx="3200400" cy="36576"/>
          </a:xfrm>
          <a:prstGeom prst="rect">
            <a:avLst/>
          </a:prstGeom>
          <a:solidFill>
            <a:srgbClr val="F6A623"/>
          </a:solidFill>
          <a:ln w="12700">
            <a:solidFill>
              <a:srgbClr val="F6A623"/>
            </a:solidFill>
            <a:prstDash val="solid"/>
          </a:ln>
        </p:spPr>
      </p:sp>
      <p:sp>
        <p:nvSpPr>
          <p:cNvPr id="8" name="Text 6"/>
          <p:cNvSpPr/>
          <p:nvPr/>
        </p:nvSpPr>
        <p:spPr>
          <a:xfrm>
            <a:off x="548640" y="2651760"/>
            <a:ext cx="7772400" cy="457200"/>
          </a:xfrm>
          <a:prstGeom prst="rect">
            <a:avLst/>
          </a:prstGeom>
          <a:noFill/>
          <a:ln/>
        </p:spPr>
        <p:txBody>
          <a:bodyPr wrap="square" rtlCol="0" anchor="ctr"/>
          <a:lstStyle/>
          <a:p>
            <a:pPr marL="0" indent="0">
              <a:buNone/>
            </a:pPr>
            <a:r>
              <a:rPr lang="en-US" sz="1350" i="1" dirty="0">
                <a:solidFill>
                  <a:srgbClr val="CBD5E0"/>
                </a:solidFill>
                <a:latin typeface="Calibri" pitchFamily="34" charset="0"/>
                <a:ea typeface="Calibri" pitchFamily="34" charset="-122"/>
                <a:cs typeface="Calibri" pitchFamily="34" charset="-120"/>
              </a:rPr>
              <a:t>Incremental improvement philosophy &amp; real-world DevOps applications</a:t>
            </a:r>
            <a:endParaRPr lang="en-US" sz="1350" dirty="0"/>
          </a:p>
        </p:txBody>
      </p:sp>
      <p:sp>
        <p:nvSpPr>
          <p:cNvPr id="9" name="Shape 7"/>
          <p:cNvSpPr/>
          <p:nvPr/>
        </p:nvSpPr>
        <p:spPr>
          <a:xfrm>
            <a:off x="548640" y="3383280"/>
            <a:ext cx="4754880" cy="1371600"/>
          </a:xfrm>
          <a:prstGeom prst="rect">
            <a:avLst/>
          </a:prstGeom>
          <a:solidFill>
            <a:srgbClr val="102828"/>
          </a:solidFill>
          <a:ln w="12700">
            <a:solidFill>
              <a:srgbClr val="0A7C5C"/>
            </a:solidFill>
            <a:prstDash val="solid"/>
          </a:ln>
          <a:effectLst>
            <a:outerShdw blurRad="63500" dist="25400" dir="8100000" algn="bl" rotWithShape="0">
              <a:srgbClr val="000000">
                <a:alpha val="12000"/>
              </a:srgbClr>
            </a:outerShdw>
          </a:effectLst>
        </p:spPr>
      </p:sp>
      <p:sp>
        <p:nvSpPr>
          <p:cNvPr id="10" name="Text 8"/>
          <p:cNvSpPr/>
          <p:nvPr/>
        </p:nvSpPr>
        <p:spPr>
          <a:xfrm>
            <a:off x="777240" y="3493008"/>
            <a:ext cx="4389120" cy="1097280"/>
          </a:xfrm>
          <a:prstGeom prst="rect">
            <a:avLst/>
          </a:prstGeom>
          <a:noFill/>
          <a:ln/>
        </p:spPr>
        <p:txBody>
          <a:bodyPr wrap="square" rtlCol="0" anchor="ctr"/>
          <a:lstStyle/>
          <a:p>
            <a:pPr marL="0" indent="0">
              <a:buNone/>
            </a:pPr>
            <a:r>
              <a:rPr lang="en-US" sz="1300" b="1" dirty="0">
                <a:solidFill>
                  <a:srgbClr val="18A97B"/>
                </a:solidFill>
                <a:latin typeface="Calibri" pitchFamily="34" charset="0"/>
                <a:ea typeface="Calibri" pitchFamily="34" charset="-122"/>
                <a:cs typeface="Calibri" pitchFamily="34" charset="-120"/>
              </a:rPr>
              <a:t>Name: </a:t>
            </a:r>
            <a:r>
              <a:rPr lang="en-US" sz="1300" dirty="0">
                <a:solidFill>
                  <a:srgbClr val="FFFFFF"/>
                </a:solidFill>
                <a:latin typeface="Calibri" pitchFamily="34" charset="0"/>
                <a:ea typeface="Calibri" pitchFamily="34" charset="-122"/>
                <a:cs typeface="Calibri" pitchFamily="34" charset="-120"/>
              </a:rPr>
              <a:t>Saumil Mishra</a:t>
            </a:r>
            <a:r>
              <a:rPr lang="en-US" sz="1300" dirty="0">
                <a:solidFill>
                  <a:srgbClr val="000000"/>
                </a:solidFill>
                <a:latin typeface="Calibri" pitchFamily="34" charset="0"/>
                <a:ea typeface="Calibri" pitchFamily="34" charset="-122"/>
                <a:cs typeface="Calibri" pitchFamily="34" charset="-120"/>
              </a:rPr>
              <a:t>
</a:t>
            </a:r>
            <a:r>
              <a:rPr lang="en-US" sz="1300" b="1" dirty="0">
                <a:solidFill>
                  <a:srgbClr val="18A97B"/>
                </a:solidFill>
                <a:latin typeface="Calibri" pitchFamily="34" charset="0"/>
                <a:ea typeface="Calibri" pitchFamily="34" charset="-122"/>
                <a:cs typeface="Calibri" pitchFamily="34" charset="-120"/>
              </a:rPr>
              <a:t>Roll No: </a:t>
            </a:r>
            <a:r>
              <a:rPr lang="en-US" sz="1300" dirty="0">
                <a:solidFill>
                  <a:srgbClr val="FFFFFF"/>
                </a:solidFill>
                <a:latin typeface="Calibri" pitchFamily="34" charset="0"/>
                <a:ea typeface="Calibri" pitchFamily="34" charset="-122"/>
                <a:cs typeface="Calibri" pitchFamily="34" charset="-120"/>
              </a:rPr>
              <a:t>R2142230897</a:t>
            </a:r>
            <a:r>
              <a:rPr lang="en-US" sz="1300" dirty="0">
                <a:solidFill>
                  <a:srgbClr val="000000"/>
                </a:solidFill>
                <a:latin typeface="Calibri" pitchFamily="34" charset="0"/>
                <a:ea typeface="Calibri" pitchFamily="34" charset="-122"/>
                <a:cs typeface="Calibri" pitchFamily="34" charset="-120"/>
              </a:rPr>
              <a:t>
</a:t>
            </a:r>
            <a:r>
              <a:rPr lang="en-US" sz="1300" b="1" dirty="0">
                <a:solidFill>
                  <a:srgbClr val="18A97B"/>
                </a:solidFill>
                <a:latin typeface="Calibri" pitchFamily="34" charset="0"/>
                <a:ea typeface="Calibri" pitchFamily="34" charset="-122"/>
                <a:cs typeface="Calibri" pitchFamily="34" charset="-120"/>
              </a:rPr>
              <a:t>SAP ID: </a:t>
            </a:r>
            <a:r>
              <a:rPr lang="en-US" sz="1300" dirty="0">
                <a:solidFill>
                  <a:srgbClr val="FFFFFF"/>
                </a:solidFill>
                <a:latin typeface="Calibri" pitchFamily="34" charset="0"/>
                <a:ea typeface="Calibri" pitchFamily="34" charset="-122"/>
                <a:cs typeface="Calibri" pitchFamily="34" charset="-120"/>
              </a:rPr>
              <a:t>500121132</a:t>
            </a:r>
            <a:endParaRPr lang="en-US" sz="1300" dirty="0"/>
          </a:p>
        </p:txBody>
      </p:sp>
      <p:sp>
        <p:nvSpPr>
          <p:cNvPr id="11" name="Shape 9"/>
          <p:cNvSpPr/>
          <p:nvPr/>
        </p:nvSpPr>
        <p:spPr>
          <a:xfrm>
            <a:off x="6858000" y="3520440"/>
            <a:ext cx="1828800" cy="548640"/>
          </a:xfrm>
          <a:prstGeom prst="roundRect">
            <a:avLst>
              <a:gd name="adj" fmla="val 13333"/>
            </a:avLst>
          </a:prstGeom>
          <a:solidFill>
            <a:srgbClr val="F6A623"/>
          </a:solidFill>
          <a:ln w="12700">
            <a:solidFill>
              <a:srgbClr val="F6A623"/>
            </a:solidFill>
            <a:prstDash val="solid"/>
          </a:ln>
        </p:spPr>
      </p:sp>
      <p:sp>
        <p:nvSpPr>
          <p:cNvPr id="12" name="Text 10"/>
          <p:cNvSpPr/>
          <p:nvPr/>
        </p:nvSpPr>
        <p:spPr>
          <a:xfrm>
            <a:off x="6858000" y="3520440"/>
            <a:ext cx="1828800" cy="548640"/>
          </a:xfrm>
          <a:prstGeom prst="rect">
            <a:avLst/>
          </a:prstGeom>
          <a:noFill/>
          <a:ln/>
        </p:spPr>
        <p:txBody>
          <a:bodyPr wrap="square" rtlCol="0" anchor="ctr"/>
          <a:lstStyle/>
          <a:p>
            <a:pPr marL="0" indent="0" algn="ctr">
              <a:buNone/>
            </a:pPr>
            <a:r>
              <a:rPr lang="en-US" sz="1600" b="1" dirty="0">
                <a:solidFill>
                  <a:srgbClr val="0D2E2E"/>
                </a:solidFill>
                <a:latin typeface="Georgia" pitchFamily="34" charset="0"/>
                <a:ea typeface="Georgia" pitchFamily="34" charset="-122"/>
                <a:cs typeface="Georgia" pitchFamily="34" charset="-120"/>
              </a:rPr>
              <a:t>Topic 9</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E2E"/>
          </a:solidFill>
          <a:ln w="12700">
            <a:solidFill>
              <a:srgbClr val="0D2E2E"/>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Agenda</a:t>
            </a:r>
            <a:endParaRPr lang="en-US" sz="3200" dirty="0"/>
          </a:p>
        </p:txBody>
      </p:sp>
      <p:sp>
        <p:nvSpPr>
          <p:cNvPr id="4" name="Shape 2"/>
          <p:cNvSpPr/>
          <p:nvPr/>
        </p:nvSpPr>
        <p:spPr>
          <a:xfrm>
            <a:off x="365760" y="1234440"/>
            <a:ext cx="4114800" cy="777240"/>
          </a:xfrm>
          <a:prstGeom prst="rect">
            <a:avLst/>
          </a:prstGeom>
          <a:solidFill>
            <a:srgbClr val="E8F7F2"/>
          </a:solidFill>
          <a:ln w="12700">
            <a:solidFill>
              <a:srgbClr val="18A97B"/>
            </a:solidFill>
            <a:prstDash val="solid"/>
          </a:ln>
          <a:effectLst>
            <a:outerShdw blurRad="63500" dist="25400" dir="8100000" algn="bl" rotWithShape="0">
              <a:srgbClr val="000000">
                <a:alpha val="12000"/>
              </a:srgbClr>
            </a:outerShdw>
          </a:effectLst>
        </p:spPr>
      </p:sp>
      <p:sp>
        <p:nvSpPr>
          <p:cNvPr id="5" name="Text 3"/>
          <p:cNvSpPr/>
          <p:nvPr/>
        </p:nvSpPr>
        <p:spPr>
          <a:xfrm>
            <a:off x="438912" y="1280160"/>
            <a:ext cx="502920" cy="685800"/>
          </a:xfrm>
          <a:prstGeom prst="rect">
            <a:avLst/>
          </a:prstGeom>
          <a:noFill/>
          <a:ln/>
        </p:spPr>
        <p:txBody>
          <a:bodyPr wrap="square" rtlCol="0" anchor="ctr"/>
          <a:lstStyle/>
          <a:p>
            <a:pPr marL="0" indent="0" algn="ctr">
              <a:buNone/>
            </a:pPr>
            <a:r>
              <a:rPr lang="en-US" sz="1800" b="1" dirty="0">
                <a:solidFill>
                  <a:srgbClr val="0A7C5C"/>
                </a:solidFill>
                <a:latin typeface="Georgia" pitchFamily="34" charset="0"/>
                <a:ea typeface="Georgia" pitchFamily="34" charset="-122"/>
                <a:cs typeface="Georgia" pitchFamily="34" charset="-120"/>
              </a:rPr>
              <a:t>01</a:t>
            </a:r>
            <a:endParaRPr lang="en-US" sz="1800" dirty="0"/>
          </a:p>
        </p:txBody>
      </p:sp>
      <p:sp>
        <p:nvSpPr>
          <p:cNvPr id="6" name="Shape 4"/>
          <p:cNvSpPr/>
          <p:nvPr/>
        </p:nvSpPr>
        <p:spPr>
          <a:xfrm>
            <a:off x="960120" y="1399032"/>
            <a:ext cx="27432" cy="457200"/>
          </a:xfrm>
          <a:prstGeom prst="rect">
            <a:avLst/>
          </a:prstGeom>
          <a:solidFill>
            <a:srgbClr val="18A97B"/>
          </a:solidFill>
          <a:ln w="12700">
            <a:solidFill>
              <a:srgbClr val="18A97B"/>
            </a:solidFill>
            <a:prstDash val="solid"/>
          </a:ln>
        </p:spPr>
      </p:sp>
      <p:sp>
        <p:nvSpPr>
          <p:cNvPr id="7" name="Text 5"/>
          <p:cNvSpPr/>
          <p:nvPr/>
        </p:nvSpPr>
        <p:spPr>
          <a:xfrm>
            <a:off x="1051560" y="1280160"/>
            <a:ext cx="3291840" cy="685800"/>
          </a:xfrm>
          <a:prstGeom prst="rect">
            <a:avLst/>
          </a:prstGeom>
          <a:noFill/>
          <a:ln/>
        </p:spPr>
        <p:txBody>
          <a:bodyPr wrap="square" rtlCol="0" anchor="ctr"/>
          <a:lstStyle/>
          <a:p>
            <a:pPr marL="0" indent="0">
              <a:buNone/>
            </a:pPr>
            <a:r>
              <a:rPr lang="en-US" sz="1350" dirty="0">
                <a:solidFill>
                  <a:srgbClr val="1A202C"/>
                </a:solidFill>
                <a:latin typeface="Calibri" pitchFamily="34" charset="0"/>
                <a:ea typeface="Calibri" pitchFamily="34" charset="-122"/>
                <a:cs typeface="Calibri" pitchFamily="34" charset="-120"/>
              </a:rPr>
              <a:t>What is Kaizen?</a:t>
            </a:r>
            <a:endParaRPr lang="en-US" sz="1350" dirty="0"/>
          </a:p>
        </p:txBody>
      </p:sp>
      <p:sp>
        <p:nvSpPr>
          <p:cNvPr id="8" name="Shape 6"/>
          <p:cNvSpPr/>
          <p:nvPr/>
        </p:nvSpPr>
        <p:spPr>
          <a:xfrm>
            <a:off x="4754880" y="1234440"/>
            <a:ext cx="4114800" cy="777240"/>
          </a:xfrm>
          <a:prstGeom prst="rect">
            <a:avLst/>
          </a:prstGeom>
          <a:solidFill>
            <a:srgbClr val="F0FBF7"/>
          </a:solidFill>
          <a:ln w="12700">
            <a:solidFill>
              <a:srgbClr val="18A97B"/>
            </a:solidFill>
            <a:prstDash val="solid"/>
          </a:ln>
          <a:effectLst>
            <a:outerShdw blurRad="63500" dist="25400" dir="8100000" algn="bl" rotWithShape="0">
              <a:srgbClr val="000000">
                <a:alpha val="12000"/>
              </a:srgbClr>
            </a:outerShdw>
          </a:effectLst>
        </p:spPr>
      </p:sp>
      <p:sp>
        <p:nvSpPr>
          <p:cNvPr id="9" name="Text 7"/>
          <p:cNvSpPr/>
          <p:nvPr/>
        </p:nvSpPr>
        <p:spPr>
          <a:xfrm>
            <a:off x="4828032" y="1280160"/>
            <a:ext cx="502920" cy="685800"/>
          </a:xfrm>
          <a:prstGeom prst="rect">
            <a:avLst/>
          </a:prstGeom>
          <a:noFill/>
          <a:ln/>
        </p:spPr>
        <p:txBody>
          <a:bodyPr wrap="square" rtlCol="0" anchor="ctr"/>
          <a:lstStyle/>
          <a:p>
            <a:pPr marL="0" indent="0" algn="ctr">
              <a:buNone/>
            </a:pPr>
            <a:r>
              <a:rPr lang="en-US" sz="1800" b="1" dirty="0">
                <a:solidFill>
                  <a:srgbClr val="0A7C5C"/>
                </a:solidFill>
                <a:latin typeface="Georgia" pitchFamily="34" charset="0"/>
                <a:ea typeface="Georgia" pitchFamily="34" charset="-122"/>
                <a:cs typeface="Georgia" pitchFamily="34" charset="-120"/>
              </a:rPr>
              <a:t>02</a:t>
            </a:r>
            <a:endParaRPr lang="en-US" sz="1800" dirty="0"/>
          </a:p>
        </p:txBody>
      </p:sp>
      <p:sp>
        <p:nvSpPr>
          <p:cNvPr id="10" name="Shape 8"/>
          <p:cNvSpPr/>
          <p:nvPr/>
        </p:nvSpPr>
        <p:spPr>
          <a:xfrm>
            <a:off x="5349240" y="1399032"/>
            <a:ext cx="27432" cy="457200"/>
          </a:xfrm>
          <a:prstGeom prst="rect">
            <a:avLst/>
          </a:prstGeom>
          <a:solidFill>
            <a:srgbClr val="18A97B"/>
          </a:solidFill>
          <a:ln w="12700">
            <a:solidFill>
              <a:srgbClr val="18A97B"/>
            </a:solidFill>
            <a:prstDash val="solid"/>
          </a:ln>
        </p:spPr>
      </p:sp>
      <p:sp>
        <p:nvSpPr>
          <p:cNvPr id="11" name="Text 9"/>
          <p:cNvSpPr/>
          <p:nvPr/>
        </p:nvSpPr>
        <p:spPr>
          <a:xfrm>
            <a:off x="5440680" y="1280160"/>
            <a:ext cx="3291840" cy="685800"/>
          </a:xfrm>
          <a:prstGeom prst="rect">
            <a:avLst/>
          </a:prstGeom>
          <a:noFill/>
          <a:ln/>
        </p:spPr>
        <p:txBody>
          <a:bodyPr wrap="square" rtlCol="0" anchor="ctr"/>
          <a:lstStyle/>
          <a:p>
            <a:pPr marL="0" indent="0">
              <a:buNone/>
            </a:pPr>
            <a:r>
              <a:rPr lang="en-US" sz="1350" dirty="0">
                <a:solidFill>
                  <a:srgbClr val="1A202C"/>
                </a:solidFill>
                <a:latin typeface="Calibri" pitchFamily="34" charset="0"/>
                <a:ea typeface="Calibri" pitchFamily="34" charset="-122"/>
                <a:cs typeface="Calibri" pitchFamily="34" charset="-120"/>
              </a:rPr>
              <a:t>Core Principles of Kaizen</a:t>
            </a:r>
            <a:endParaRPr lang="en-US" sz="1350" dirty="0"/>
          </a:p>
        </p:txBody>
      </p:sp>
      <p:sp>
        <p:nvSpPr>
          <p:cNvPr id="12" name="Shape 10"/>
          <p:cNvSpPr/>
          <p:nvPr/>
        </p:nvSpPr>
        <p:spPr>
          <a:xfrm>
            <a:off x="365760" y="2240280"/>
            <a:ext cx="4114800" cy="777240"/>
          </a:xfrm>
          <a:prstGeom prst="rect">
            <a:avLst/>
          </a:prstGeom>
          <a:solidFill>
            <a:srgbClr val="E8F7F2"/>
          </a:solidFill>
          <a:ln w="12700">
            <a:solidFill>
              <a:srgbClr val="18A97B"/>
            </a:solidFill>
            <a:prstDash val="solid"/>
          </a:ln>
          <a:effectLst>
            <a:outerShdw blurRad="63500" dist="25400" dir="8100000" algn="bl" rotWithShape="0">
              <a:srgbClr val="000000">
                <a:alpha val="12000"/>
              </a:srgbClr>
            </a:outerShdw>
          </a:effectLst>
        </p:spPr>
      </p:sp>
      <p:sp>
        <p:nvSpPr>
          <p:cNvPr id="13" name="Text 11"/>
          <p:cNvSpPr/>
          <p:nvPr/>
        </p:nvSpPr>
        <p:spPr>
          <a:xfrm>
            <a:off x="438912" y="2286000"/>
            <a:ext cx="502920" cy="685800"/>
          </a:xfrm>
          <a:prstGeom prst="rect">
            <a:avLst/>
          </a:prstGeom>
          <a:noFill/>
          <a:ln/>
        </p:spPr>
        <p:txBody>
          <a:bodyPr wrap="square" rtlCol="0" anchor="ctr"/>
          <a:lstStyle/>
          <a:p>
            <a:pPr marL="0" indent="0" algn="ctr">
              <a:buNone/>
            </a:pPr>
            <a:r>
              <a:rPr lang="en-US" sz="1800" b="1" dirty="0">
                <a:solidFill>
                  <a:srgbClr val="0A7C5C"/>
                </a:solidFill>
                <a:latin typeface="Georgia" pitchFamily="34" charset="0"/>
                <a:ea typeface="Georgia" pitchFamily="34" charset="-122"/>
                <a:cs typeface="Georgia" pitchFamily="34" charset="-120"/>
              </a:rPr>
              <a:t>03</a:t>
            </a:r>
            <a:endParaRPr lang="en-US" sz="1800" dirty="0"/>
          </a:p>
        </p:txBody>
      </p:sp>
      <p:sp>
        <p:nvSpPr>
          <p:cNvPr id="14" name="Shape 12"/>
          <p:cNvSpPr/>
          <p:nvPr/>
        </p:nvSpPr>
        <p:spPr>
          <a:xfrm>
            <a:off x="960120" y="2404872"/>
            <a:ext cx="27432" cy="457200"/>
          </a:xfrm>
          <a:prstGeom prst="rect">
            <a:avLst/>
          </a:prstGeom>
          <a:solidFill>
            <a:srgbClr val="18A97B"/>
          </a:solidFill>
          <a:ln w="12700">
            <a:solidFill>
              <a:srgbClr val="18A97B"/>
            </a:solidFill>
            <a:prstDash val="solid"/>
          </a:ln>
        </p:spPr>
      </p:sp>
      <p:sp>
        <p:nvSpPr>
          <p:cNvPr id="15" name="Text 13"/>
          <p:cNvSpPr/>
          <p:nvPr/>
        </p:nvSpPr>
        <p:spPr>
          <a:xfrm>
            <a:off x="1051560" y="2286000"/>
            <a:ext cx="3291840" cy="685800"/>
          </a:xfrm>
          <a:prstGeom prst="rect">
            <a:avLst/>
          </a:prstGeom>
          <a:noFill/>
          <a:ln/>
        </p:spPr>
        <p:txBody>
          <a:bodyPr wrap="square" rtlCol="0" anchor="ctr"/>
          <a:lstStyle/>
          <a:p>
            <a:pPr marL="0" indent="0">
              <a:buNone/>
            </a:pPr>
            <a:r>
              <a:rPr lang="en-US" sz="1350" dirty="0">
                <a:solidFill>
                  <a:srgbClr val="1A202C"/>
                </a:solidFill>
                <a:latin typeface="Calibri" pitchFamily="34" charset="0"/>
                <a:ea typeface="Calibri" pitchFamily="34" charset="-122"/>
                <a:cs typeface="Calibri" pitchFamily="34" charset="-120"/>
              </a:rPr>
              <a:t>The PDCA Cycle</a:t>
            </a:r>
            <a:endParaRPr lang="en-US" sz="1350" dirty="0"/>
          </a:p>
        </p:txBody>
      </p:sp>
      <p:sp>
        <p:nvSpPr>
          <p:cNvPr id="16" name="Shape 14"/>
          <p:cNvSpPr/>
          <p:nvPr/>
        </p:nvSpPr>
        <p:spPr>
          <a:xfrm>
            <a:off x="4754880" y="2240280"/>
            <a:ext cx="4114800" cy="777240"/>
          </a:xfrm>
          <a:prstGeom prst="rect">
            <a:avLst/>
          </a:prstGeom>
          <a:solidFill>
            <a:srgbClr val="F0FBF7"/>
          </a:solidFill>
          <a:ln w="12700">
            <a:solidFill>
              <a:srgbClr val="18A97B"/>
            </a:solidFill>
            <a:prstDash val="solid"/>
          </a:ln>
          <a:effectLst>
            <a:outerShdw blurRad="63500" dist="25400" dir="8100000" algn="bl" rotWithShape="0">
              <a:srgbClr val="000000">
                <a:alpha val="12000"/>
              </a:srgbClr>
            </a:outerShdw>
          </a:effectLst>
        </p:spPr>
      </p:sp>
      <p:sp>
        <p:nvSpPr>
          <p:cNvPr id="17" name="Text 15"/>
          <p:cNvSpPr/>
          <p:nvPr/>
        </p:nvSpPr>
        <p:spPr>
          <a:xfrm>
            <a:off x="4828032" y="2286000"/>
            <a:ext cx="502920" cy="685800"/>
          </a:xfrm>
          <a:prstGeom prst="rect">
            <a:avLst/>
          </a:prstGeom>
          <a:noFill/>
          <a:ln/>
        </p:spPr>
        <p:txBody>
          <a:bodyPr wrap="square" rtlCol="0" anchor="ctr"/>
          <a:lstStyle/>
          <a:p>
            <a:pPr marL="0" indent="0" algn="ctr">
              <a:buNone/>
            </a:pPr>
            <a:r>
              <a:rPr lang="en-US" sz="1800" b="1" dirty="0">
                <a:solidFill>
                  <a:srgbClr val="0A7C5C"/>
                </a:solidFill>
                <a:latin typeface="Georgia" pitchFamily="34" charset="0"/>
                <a:ea typeface="Georgia" pitchFamily="34" charset="-122"/>
                <a:cs typeface="Georgia" pitchFamily="34" charset="-120"/>
              </a:rPr>
              <a:t>04</a:t>
            </a:r>
            <a:endParaRPr lang="en-US" sz="1800" dirty="0"/>
          </a:p>
        </p:txBody>
      </p:sp>
      <p:sp>
        <p:nvSpPr>
          <p:cNvPr id="18" name="Shape 16"/>
          <p:cNvSpPr/>
          <p:nvPr/>
        </p:nvSpPr>
        <p:spPr>
          <a:xfrm>
            <a:off x="5349240" y="2404872"/>
            <a:ext cx="27432" cy="457200"/>
          </a:xfrm>
          <a:prstGeom prst="rect">
            <a:avLst/>
          </a:prstGeom>
          <a:solidFill>
            <a:srgbClr val="18A97B"/>
          </a:solidFill>
          <a:ln w="12700">
            <a:solidFill>
              <a:srgbClr val="18A97B"/>
            </a:solidFill>
            <a:prstDash val="solid"/>
          </a:ln>
        </p:spPr>
      </p:sp>
      <p:sp>
        <p:nvSpPr>
          <p:cNvPr id="19" name="Text 17"/>
          <p:cNvSpPr/>
          <p:nvPr/>
        </p:nvSpPr>
        <p:spPr>
          <a:xfrm>
            <a:off x="5440680" y="2286000"/>
            <a:ext cx="3291840" cy="685800"/>
          </a:xfrm>
          <a:prstGeom prst="rect">
            <a:avLst/>
          </a:prstGeom>
          <a:noFill/>
          <a:ln/>
        </p:spPr>
        <p:txBody>
          <a:bodyPr wrap="square" rtlCol="0" anchor="ctr"/>
          <a:lstStyle/>
          <a:p>
            <a:pPr marL="0" indent="0">
              <a:buNone/>
            </a:pPr>
            <a:r>
              <a:rPr lang="en-US" sz="1350" dirty="0">
                <a:solidFill>
                  <a:srgbClr val="1A202C"/>
                </a:solidFill>
                <a:latin typeface="Calibri" pitchFamily="34" charset="0"/>
                <a:ea typeface="Calibri" pitchFamily="34" charset="-122"/>
                <a:cs typeface="Calibri" pitchFamily="34" charset="-120"/>
              </a:rPr>
              <a:t>Kaizen in DevOps Context</a:t>
            </a:r>
            <a:endParaRPr lang="en-US" sz="1350" dirty="0"/>
          </a:p>
        </p:txBody>
      </p:sp>
      <p:sp>
        <p:nvSpPr>
          <p:cNvPr id="20" name="Shape 18"/>
          <p:cNvSpPr/>
          <p:nvPr/>
        </p:nvSpPr>
        <p:spPr>
          <a:xfrm>
            <a:off x="365760" y="3246120"/>
            <a:ext cx="4114800" cy="777240"/>
          </a:xfrm>
          <a:prstGeom prst="rect">
            <a:avLst/>
          </a:prstGeom>
          <a:solidFill>
            <a:srgbClr val="E8F7F2"/>
          </a:solidFill>
          <a:ln w="12700">
            <a:solidFill>
              <a:srgbClr val="18A97B"/>
            </a:solidFill>
            <a:prstDash val="solid"/>
          </a:ln>
          <a:effectLst>
            <a:outerShdw blurRad="63500" dist="25400" dir="8100000" algn="bl" rotWithShape="0">
              <a:srgbClr val="000000">
                <a:alpha val="12000"/>
              </a:srgbClr>
            </a:outerShdw>
          </a:effectLst>
        </p:spPr>
      </p:sp>
      <p:sp>
        <p:nvSpPr>
          <p:cNvPr id="21" name="Text 19"/>
          <p:cNvSpPr/>
          <p:nvPr/>
        </p:nvSpPr>
        <p:spPr>
          <a:xfrm>
            <a:off x="438912" y="3291840"/>
            <a:ext cx="502920" cy="685800"/>
          </a:xfrm>
          <a:prstGeom prst="rect">
            <a:avLst/>
          </a:prstGeom>
          <a:noFill/>
          <a:ln/>
        </p:spPr>
        <p:txBody>
          <a:bodyPr wrap="square" rtlCol="0" anchor="ctr"/>
          <a:lstStyle/>
          <a:p>
            <a:pPr marL="0" indent="0" algn="ctr">
              <a:buNone/>
            </a:pPr>
            <a:r>
              <a:rPr lang="en-US" sz="1800" b="1" dirty="0">
                <a:solidFill>
                  <a:srgbClr val="0A7C5C"/>
                </a:solidFill>
                <a:latin typeface="Georgia" pitchFamily="34" charset="0"/>
                <a:ea typeface="Georgia" pitchFamily="34" charset="-122"/>
                <a:cs typeface="Georgia" pitchFamily="34" charset="-120"/>
              </a:rPr>
              <a:t>05</a:t>
            </a:r>
            <a:endParaRPr lang="en-US" sz="1800" dirty="0"/>
          </a:p>
        </p:txBody>
      </p:sp>
      <p:sp>
        <p:nvSpPr>
          <p:cNvPr id="22" name="Shape 20"/>
          <p:cNvSpPr/>
          <p:nvPr/>
        </p:nvSpPr>
        <p:spPr>
          <a:xfrm>
            <a:off x="960120" y="3410712"/>
            <a:ext cx="27432" cy="457200"/>
          </a:xfrm>
          <a:prstGeom prst="rect">
            <a:avLst/>
          </a:prstGeom>
          <a:solidFill>
            <a:srgbClr val="18A97B"/>
          </a:solidFill>
          <a:ln w="12700">
            <a:solidFill>
              <a:srgbClr val="18A97B"/>
            </a:solidFill>
            <a:prstDash val="solid"/>
          </a:ln>
        </p:spPr>
      </p:sp>
      <p:sp>
        <p:nvSpPr>
          <p:cNvPr id="23" name="Text 21"/>
          <p:cNvSpPr/>
          <p:nvPr/>
        </p:nvSpPr>
        <p:spPr>
          <a:xfrm>
            <a:off x="1051560" y="3291840"/>
            <a:ext cx="3291840" cy="685800"/>
          </a:xfrm>
          <a:prstGeom prst="rect">
            <a:avLst/>
          </a:prstGeom>
          <a:noFill/>
          <a:ln/>
        </p:spPr>
        <p:txBody>
          <a:bodyPr wrap="square" rtlCol="0" anchor="ctr"/>
          <a:lstStyle/>
          <a:p>
            <a:pPr marL="0" indent="0">
              <a:buNone/>
            </a:pPr>
            <a:r>
              <a:rPr lang="en-US" sz="1350" dirty="0">
                <a:solidFill>
                  <a:srgbClr val="1A202C"/>
                </a:solidFill>
                <a:latin typeface="Calibri" pitchFamily="34" charset="0"/>
                <a:ea typeface="Calibri" pitchFamily="34" charset="-122"/>
                <a:cs typeface="Calibri" pitchFamily="34" charset="-120"/>
              </a:rPr>
              <a:t>Real-World Examples &amp; Use Cases</a:t>
            </a:r>
            <a:endParaRPr lang="en-US" sz="1350" dirty="0"/>
          </a:p>
        </p:txBody>
      </p:sp>
      <p:sp>
        <p:nvSpPr>
          <p:cNvPr id="24" name="Shape 22"/>
          <p:cNvSpPr/>
          <p:nvPr/>
        </p:nvSpPr>
        <p:spPr>
          <a:xfrm>
            <a:off x="4754880" y="3246120"/>
            <a:ext cx="4114800" cy="777240"/>
          </a:xfrm>
          <a:prstGeom prst="rect">
            <a:avLst/>
          </a:prstGeom>
          <a:solidFill>
            <a:srgbClr val="F0FBF7"/>
          </a:solidFill>
          <a:ln w="12700">
            <a:solidFill>
              <a:srgbClr val="18A97B"/>
            </a:solidFill>
            <a:prstDash val="solid"/>
          </a:ln>
          <a:effectLst>
            <a:outerShdw blurRad="63500" dist="25400" dir="8100000" algn="bl" rotWithShape="0">
              <a:srgbClr val="000000">
                <a:alpha val="12000"/>
              </a:srgbClr>
            </a:outerShdw>
          </a:effectLst>
        </p:spPr>
      </p:sp>
      <p:sp>
        <p:nvSpPr>
          <p:cNvPr id="25" name="Text 23"/>
          <p:cNvSpPr/>
          <p:nvPr/>
        </p:nvSpPr>
        <p:spPr>
          <a:xfrm>
            <a:off x="4828032" y="3291840"/>
            <a:ext cx="502920" cy="685800"/>
          </a:xfrm>
          <a:prstGeom prst="rect">
            <a:avLst/>
          </a:prstGeom>
          <a:noFill/>
          <a:ln/>
        </p:spPr>
        <p:txBody>
          <a:bodyPr wrap="square" rtlCol="0" anchor="ctr"/>
          <a:lstStyle/>
          <a:p>
            <a:pPr marL="0" indent="0" algn="ctr">
              <a:buNone/>
            </a:pPr>
            <a:r>
              <a:rPr lang="en-US" sz="1800" b="1" dirty="0">
                <a:solidFill>
                  <a:srgbClr val="0A7C5C"/>
                </a:solidFill>
                <a:latin typeface="Georgia" pitchFamily="34" charset="0"/>
                <a:ea typeface="Georgia" pitchFamily="34" charset="-122"/>
                <a:cs typeface="Georgia" pitchFamily="34" charset="-120"/>
              </a:rPr>
              <a:t>06</a:t>
            </a:r>
            <a:endParaRPr lang="en-US" sz="1800" dirty="0"/>
          </a:p>
        </p:txBody>
      </p:sp>
      <p:sp>
        <p:nvSpPr>
          <p:cNvPr id="26" name="Shape 24"/>
          <p:cNvSpPr/>
          <p:nvPr/>
        </p:nvSpPr>
        <p:spPr>
          <a:xfrm>
            <a:off x="5349240" y="3410712"/>
            <a:ext cx="27432" cy="457200"/>
          </a:xfrm>
          <a:prstGeom prst="rect">
            <a:avLst/>
          </a:prstGeom>
          <a:solidFill>
            <a:srgbClr val="18A97B"/>
          </a:solidFill>
          <a:ln w="12700">
            <a:solidFill>
              <a:srgbClr val="18A97B"/>
            </a:solidFill>
            <a:prstDash val="solid"/>
          </a:ln>
        </p:spPr>
      </p:sp>
      <p:sp>
        <p:nvSpPr>
          <p:cNvPr id="27" name="Text 25"/>
          <p:cNvSpPr/>
          <p:nvPr/>
        </p:nvSpPr>
        <p:spPr>
          <a:xfrm>
            <a:off x="5440680" y="3291840"/>
            <a:ext cx="3291840" cy="685800"/>
          </a:xfrm>
          <a:prstGeom prst="rect">
            <a:avLst/>
          </a:prstGeom>
          <a:noFill/>
          <a:ln/>
        </p:spPr>
        <p:txBody>
          <a:bodyPr wrap="square" rtlCol="0" anchor="ctr"/>
          <a:lstStyle/>
          <a:p>
            <a:pPr marL="0" indent="0">
              <a:buNone/>
            </a:pPr>
            <a:r>
              <a:rPr lang="en-US" sz="1350" dirty="0">
                <a:solidFill>
                  <a:srgbClr val="1A202C"/>
                </a:solidFill>
                <a:latin typeface="Calibri" pitchFamily="34" charset="0"/>
                <a:ea typeface="Calibri" pitchFamily="34" charset="-122"/>
                <a:cs typeface="Calibri" pitchFamily="34" charset="-120"/>
              </a:rPr>
              <a:t>Benefits &amp; Challenges</a:t>
            </a:r>
            <a:endParaRPr lang="en-US" sz="1350" dirty="0"/>
          </a:p>
        </p:txBody>
      </p:sp>
      <p:sp>
        <p:nvSpPr>
          <p:cNvPr id="28" name="Shape 26"/>
          <p:cNvSpPr/>
          <p:nvPr/>
        </p:nvSpPr>
        <p:spPr>
          <a:xfrm>
            <a:off x="365760" y="4251960"/>
            <a:ext cx="4114800" cy="777240"/>
          </a:xfrm>
          <a:prstGeom prst="rect">
            <a:avLst/>
          </a:prstGeom>
          <a:solidFill>
            <a:srgbClr val="E8F7F2"/>
          </a:solidFill>
          <a:ln w="12700">
            <a:solidFill>
              <a:srgbClr val="18A97B"/>
            </a:solidFill>
            <a:prstDash val="solid"/>
          </a:ln>
          <a:effectLst>
            <a:outerShdw blurRad="63500" dist="25400" dir="8100000" algn="bl" rotWithShape="0">
              <a:srgbClr val="000000">
                <a:alpha val="12000"/>
              </a:srgbClr>
            </a:outerShdw>
          </a:effectLst>
        </p:spPr>
      </p:sp>
      <p:sp>
        <p:nvSpPr>
          <p:cNvPr id="29" name="Text 27"/>
          <p:cNvSpPr/>
          <p:nvPr/>
        </p:nvSpPr>
        <p:spPr>
          <a:xfrm>
            <a:off x="438912" y="4297680"/>
            <a:ext cx="502920" cy="685800"/>
          </a:xfrm>
          <a:prstGeom prst="rect">
            <a:avLst/>
          </a:prstGeom>
          <a:noFill/>
          <a:ln/>
        </p:spPr>
        <p:txBody>
          <a:bodyPr wrap="square" rtlCol="0" anchor="ctr"/>
          <a:lstStyle/>
          <a:p>
            <a:pPr marL="0" indent="0" algn="ctr">
              <a:buNone/>
            </a:pPr>
            <a:r>
              <a:rPr lang="en-US" sz="1800" b="1" dirty="0">
                <a:solidFill>
                  <a:srgbClr val="0A7C5C"/>
                </a:solidFill>
                <a:latin typeface="Georgia" pitchFamily="34" charset="0"/>
                <a:ea typeface="Georgia" pitchFamily="34" charset="-122"/>
                <a:cs typeface="Georgia" pitchFamily="34" charset="-120"/>
              </a:rPr>
              <a:t>07</a:t>
            </a:r>
            <a:endParaRPr lang="en-US" sz="1800" dirty="0"/>
          </a:p>
        </p:txBody>
      </p:sp>
      <p:sp>
        <p:nvSpPr>
          <p:cNvPr id="30" name="Shape 28"/>
          <p:cNvSpPr/>
          <p:nvPr/>
        </p:nvSpPr>
        <p:spPr>
          <a:xfrm>
            <a:off x="960120" y="4416552"/>
            <a:ext cx="27432" cy="457200"/>
          </a:xfrm>
          <a:prstGeom prst="rect">
            <a:avLst/>
          </a:prstGeom>
          <a:solidFill>
            <a:srgbClr val="18A97B"/>
          </a:solidFill>
          <a:ln w="12700">
            <a:solidFill>
              <a:srgbClr val="18A97B"/>
            </a:solidFill>
            <a:prstDash val="solid"/>
          </a:ln>
        </p:spPr>
      </p:sp>
      <p:sp>
        <p:nvSpPr>
          <p:cNvPr id="31" name="Text 29"/>
          <p:cNvSpPr/>
          <p:nvPr/>
        </p:nvSpPr>
        <p:spPr>
          <a:xfrm>
            <a:off x="1051560" y="4297680"/>
            <a:ext cx="3291840" cy="685800"/>
          </a:xfrm>
          <a:prstGeom prst="rect">
            <a:avLst/>
          </a:prstGeom>
          <a:noFill/>
          <a:ln/>
        </p:spPr>
        <p:txBody>
          <a:bodyPr wrap="square" rtlCol="0" anchor="ctr"/>
          <a:lstStyle/>
          <a:p>
            <a:pPr marL="0" indent="0">
              <a:buNone/>
            </a:pPr>
            <a:r>
              <a:rPr lang="en-US" sz="1350" dirty="0">
                <a:solidFill>
                  <a:srgbClr val="1A202C"/>
                </a:solidFill>
                <a:latin typeface="Calibri" pitchFamily="34" charset="0"/>
                <a:ea typeface="Calibri" pitchFamily="34" charset="-122"/>
                <a:cs typeface="Calibri" pitchFamily="34" charset="-120"/>
              </a:rPr>
              <a:t>Q&amp;A and References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E2E"/>
          </a:solidFill>
          <a:ln w="12700">
            <a:solidFill>
              <a:srgbClr val="0D2E2E"/>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What is Kaizen?</a:t>
            </a:r>
            <a:endParaRPr lang="en-US" sz="3200" dirty="0"/>
          </a:p>
        </p:txBody>
      </p:sp>
      <p:sp>
        <p:nvSpPr>
          <p:cNvPr id="4" name="Shape 2"/>
          <p:cNvSpPr/>
          <p:nvPr/>
        </p:nvSpPr>
        <p:spPr>
          <a:xfrm>
            <a:off x="365760" y="1188720"/>
            <a:ext cx="2286000" cy="2011680"/>
          </a:xfrm>
          <a:prstGeom prst="rect">
            <a:avLst/>
          </a:prstGeom>
          <a:solidFill>
            <a:srgbClr val="0A7C5C"/>
          </a:solidFill>
          <a:ln w="12700">
            <a:solidFill>
              <a:srgbClr val="0A7C5C"/>
            </a:solidFill>
            <a:prstDash val="solid"/>
          </a:ln>
          <a:effectLst>
            <a:outerShdw blurRad="63500" dist="25400" dir="8100000" algn="bl" rotWithShape="0">
              <a:srgbClr val="000000">
                <a:alpha val="12000"/>
              </a:srgbClr>
            </a:outerShdw>
          </a:effectLst>
        </p:spPr>
      </p:sp>
      <p:sp>
        <p:nvSpPr>
          <p:cNvPr id="5" name="Text 3"/>
          <p:cNvSpPr/>
          <p:nvPr/>
        </p:nvSpPr>
        <p:spPr>
          <a:xfrm>
            <a:off x="365760" y="1234440"/>
            <a:ext cx="2286000" cy="914400"/>
          </a:xfrm>
          <a:prstGeom prst="rect">
            <a:avLst/>
          </a:prstGeom>
          <a:noFill/>
          <a:ln/>
        </p:spPr>
        <p:txBody>
          <a:bodyPr wrap="square" rtlCol="0" anchor="ctr"/>
          <a:lstStyle/>
          <a:p>
            <a:pPr marL="0" indent="0" algn="ctr">
              <a:buNone/>
            </a:pPr>
            <a:r>
              <a:rPr lang="en-US" sz="5200" dirty="0">
                <a:solidFill>
                  <a:srgbClr val="FFFFFF"/>
                </a:solidFill>
                <a:latin typeface="Georgia" pitchFamily="34" charset="0"/>
                <a:ea typeface="Georgia" pitchFamily="34" charset="-122"/>
                <a:cs typeface="Georgia" pitchFamily="34" charset="-120"/>
              </a:rPr>
              <a:t>改</a:t>
            </a:r>
            <a:endParaRPr lang="en-US" sz="5200" dirty="0"/>
          </a:p>
        </p:txBody>
      </p:sp>
      <p:sp>
        <p:nvSpPr>
          <p:cNvPr id="6" name="Text 4"/>
          <p:cNvSpPr/>
          <p:nvPr/>
        </p:nvSpPr>
        <p:spPr>
          <a:xfrm>
            <a:off x="365760" y="2148840"/>
            <a:ext cx="2286000" cy="411480"/>
          </a:xfrm>
          <a:prstGeom prst="rect">
            <a:avLst/>
          </a:prstGeom>
          <a:noFill/>
          <a:ln/>
        </p:spPr>
        <p:txBody>
          <a:bodyPr wrap="square" rtlCol="0" anchor="ctr"/>
          <a:lstStyle/>
          <a:p>
            <a:pPr marL="0" indent="0" algn="ctr">
              <a:buNone/>
            </a:pPr>
            <a:r>
              <a:rPr lang="en-US" sz="1600" b="1" dirty="0">
                <a:solidFill>
                  <a:srgbClr val="F6A623"/>
                </a:solidFill>
                <a:latin typeface="Calibri" pitchFamily="34" charset="0"/>
                <a:ea typeface="Calibri" pitchFamily="34" charset="-122"/>
                <a:cs typeface="Calibri" pitchFamily="34" charset="-120"/>
              </a:rPr>
              <a:t>KAI</a:t>
            </a:r>
            <a:endParaRPr lang="en-US" sz="1600" dirty="0"/>
          </a:p>
        </p:txBody>
      </p:sp>
      <p:sp>
        <p:nvSpPr>
          <p:cNvPr id="7" name="Text 5"/>
          <p:cNvSpPr/>
          <p:nvPr/>
        </p:nvSpPr>
        <p:spPr>
          <a:xfrm>
            <a:off x="365760" y="2542032"/>
            <a:ext cx="2286000" cy="548640"/>
          </a:xfrm>
          <a:prstGeom prst="rect">
            <a:avLst/>
          </a:prstGeom>
          <a:noFill/>
          <a:ln/>
        </p:spPr>
        <p:txBody>
          <a:bodyPr wrap="square" rtlCol="0" anchor="ctr"/>
          <a:lstStyle/>
          <a:p>
            <a:pPr marL="0" indent="0" algn="ctr">
              <a:buNone/>
            </a:pPr>
            <a:r>
              <a:rPr lang="en-US" sz="1200" dirty="0">
                <a:solidFill>
                  <a:srgbClr val="CBD5E0"/>
                </a:solidFill>
                <a:latin typeface="Calibri" pitchFamily="34" charset="0"/>
                <a:ea typeface="Calibri" pitchFamily="34" charset="-122"/>
                <a:cs typeface="Calibri" pitchFamily="34" charset="-120"/>
              </a:rPr>
              <a:t>Change / Reform</a:t>
            </a:r>
            <a:endParaRPr lang="en-US" sz="1200" dirty="0"/>
          </a:p>
        </p:txBody>
      </p:sp>
      <p:sp>
        <p:nvSpPr>
          <p:cNvPr id="8" name="Shape 6"/>
          <p:cNvSpPr/>
          <p:nvPr/>
        </p:nvSpPr>
        <p:spPr>
          <a:xfrm>
            <a:off x="3108960" y="1188720"/>
            <a:ext cx="2286000" cy="2011680"/>
          </a:xfrm>
          <a:prstGeom prst="rect">
            <a:avLst/>
          </a:prstGeom>
          <a:solidFill>
            <a:srgbClr val="0A7C5C"/>
          </a:solidFill>
          <a:ln w="12700">
            <a:solidFill>
              <a:srgbClr val="0A7C5C"/>
            </a:solidFill>
            <a:prstDash val="solid"/>
          </a:ln>
          <a:effectLst>
            <a:outerShdw blurRad="63500" dist="25400" dir="8100000" algn="bl" rotWithShape="0">
              <a:srgbClr val="000000">
                <a:alpha val="12000"/>
              </a:srgbClr>
            </a:outerShdw>
          </a:effectLst>
        </p:spPr>
      </p:sp>
      <p:sp>
        <p:nvSpPr>
          <p:cNvPr id="9" name="Text 7"/>
          <p:cNvSpPr/>
          <p:nvPr/>
        </p:nvSpPr>
        <p:spPr>
          <a:xfrm>
            <a:off x="3108960" y="1234440"/>
            <a:ext cx="2286000" cy="914400"/>
          </a:xfrm>
          <a:prstGeom prst="rect">
            <a:avLst/>
          </a:prstGeom>
          <a:noFill/>
          <a:ln/>
        </p:spPr>
        <p:txBody>
          <a:bodyPr wrap="square" rtlCol="0" anchor="ctr"/>
          <a:lstStyle/>
          <a:p>
            <a:pPr marL="0" indent="0" algn="ctr">
              <a:buNone/>
            </a:pPr>
            <a:r>
              <a:rPr lang="en-US" sz="5200" dirty="0">
                <a:solidFill>
                  <a:srgbClr val="FFFFFF"/>
                </a:solidFill>
                <a:latin typeface="Georgia" pitchFamily="34" charset="0"/>
                <a:ea typeface="Georgia" pitchFamily="34" charset="-122"/>
                <a:cs typeface="Georgia" pitchFamily="34" charset="-120"/>
              </a:rPr>
              <a:t>善</a:t>
            </a:r>
            <a:endParaRPr lang="en-US" sz="5200" dirty="0"/>
          </a:p>
        </p:txBody>
      </p:sp>
      <p:sp>
        <p:nvSpPr>
          <p:cNvPr id="10" name="Text 8"/>
          <p:cNvSpPr/>
          <p:nvPr/>
        </p:nvSpPr>
        <p:spPr>
          <a:xfrm>
            <a:off x="3108960" y="2148840"/>
            <a:ext cx="2286000" cy="411480"/>
          </a:xfrm>
          <a:prstGeom prst="rect">
            <a:avLst/>
          </a:prstGeom>
          <a:noFill/>
          <a:ln/>
        </p:spPr>
        <p:txBody>
          <a:bodyPr wrap="square" rtlCol="0" anchor="ctr"/>
          <a:lstStyle/>
          <a:p>
            <a:pPr marL="0" indent="0" algn="ctr">
              <a:buNone/>
            </a:pPr>
            <a:r>
              <a:rPr lang="en-US" sz="1600" b="1" dirty="0">
                <a:solidFill>
                  <a:srgbClr val="F6A623"/>
                </a:solidFill>
                <a:latin typeface="Calibri" pitchFamily="34" charset="0"/>
                <a:ea typeface="Calibri" pitchFamily="34" charset="-122"/>
                <a:cs typeface="Calibri" pitchFamily="34" charset="-120"/>
              </a:rPr>
              <a:t>ZEN</a:t>
            </a:r>
            <a:endParaRPr lang="en-US" sz="1600" dirty="0"/>
          </a:p>
        </p:txBody>
      </p:sp>
      <p:sp>
        <p:nvSpPr>
          <p:cNvPr id="11" name="Text 9"/>
          <p:cNvSpPr/>
          <p:nvPr/>
        </p:nvSpPr>
        <p:spPr>
          <a:xfrm>
            <a:off x="3108960" y="2542032"/>
            <a:ext cx="2286000" cy="548640"/>
          </a:xfrm>
          <a:prstGeom prst="rect">
            <a:avLst/>
          </a:prstGeom>
          <a:noFill/>
          <a:ln/>
        </p:spPr>
        <p:txBody>
          <a:bodyPr wrap="square" rtlCol="0" anchor="ctr"/>
          <a:lstStyle/>
          <a:p>
            <a:pPr marL="0" indent="0" algn="ctr">
              <a:buNone/>
            </a:pPr>
            <a:r>
              <a:rPr lang="en-US" sz="1200" dirty="0">
                <a:solidFill>
                  <a:srgbClr val="CBD5E0"/>
                </a:solidFill>
                <a:latin typeface="Calibri" pitchFamily="34" charset="0"/>
                <a:ea typeface="Calibri" pitchFamily="34" charset="-122"/>
                <a:cs typeface="Calibri" pitchFamily="34" charset="-120"/>
              </a:rPr>
              <a:t>Good / Better</a:t>
            </a:r>
            <a:endParaRPr lang="en-US" sz="1200" dirty="0"/>
          </a:p>
        </p:txBody>
      </p:sp>
      <p:sp>
        <p:nvSpPr>
          <p:cNvPr id="12" name="Text 10"/>
          <p:cNvSpPr/>
          <p:nvPr/>
        </p:nvSpPr>
        <p:spPr>
          <a:xfrm>
            <a:off x="2651760" y="1737360"/>
            <a:ext cx="457200" cy="731520"/>
          </a:xfrm>
          <a:prstGeom prst="rect">
            <a:avLst/>
          </a:prstGeom>
          <a:noFill/>
          <a:ln/>
        </p:spPr>
        <p:txBody>
          <a:bodyPr wrap="square" rtlCol="0" anchor="ctr"/>
          <a:lstStyle/>
          <a:p>
            <a:pPr marL="0" indent="0" algn="ctr">
              <a:buNone/>
            </a:pPr>
            <a:r>
              <a:rPr lang="en-US" sz="3600" b="1" dirty="0">
                <a:solidFill>
                  <a:srgbClr val="4A5568"/>
                </a:solidFill>
              </a:rPr>
              <a:t>=</a:t>
            </a:r>
            <a:endParaRPr lang="en-US" sz="3600" dirty="0"/>
          </a:p>
        </p:txBody>
      </p:sp>
      <p:sp>
        <p:nvSpPr>
          <p:cNvPr id="13" name="Shape 11"/>
          <p:cNvSpPr/>
          <p:nvPr/>
        </p:nvSpPr>
        <p:spPr>
          <a:xfrm>
            <a:off x="6035040" y="1188720"/>
            <a:ext cx="2743200" cy="2011680"/>
          </a:xfrm>
          <a:prstGeom prst="rect">
            <a:avLst/>
          </a:prstGeom>
          <a:solidFill>
            <a:srgbClr val="18A97B"/>
          </a:solidFill>
          <a:ln w="12700">
            <a:solidFill>
              <a:srgbClr val="18A97B"/>
            </a:solidFill>
            <a:prstDash val="solid"/>
          </a:ln>
          <a:effectLst>
            <a:outerShdw blurRad="63500" dist="25400" dir="8100000" algn="bl" rotWithShape="0">
              <a:srgbClr val="000000">
                <a:alpha val="12000"/>
              </a:srgbClr>
            </a:outerShdw>
          </a:effectLst>
        </p:spPr>
      </p:sp>
      <p:sp>
        <p:nvSpPr>
          <p:cNvPr id="14" name="Text 12"/>
          <p:cNvSpPr/>
          <p:nvPr/>
        </p:nvSpPr>
        <p:spPr>
          <a:xfrm>
            <a:off x="6035040" y="1371600"/>
            <a:ext cx="2743200" cy="91440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Continuous</a:t>
            </a:r>
            <a:endParaRPr lang="en-US" sz="2000" dirty="0"/>
          </a:p>
          <a:p>
            <a:pPr marL="0" indent="0" algn="ctr">
              <a:buNone/>
            </a:pPr>
            <a:r>
              <a:rPr lang="en-US" sz="2000" b="1" dirty="0">
                <a:solidFill>
                  <a:srgbClr val="FFFFFF"/>
                </a:solidFill>
                <a:latin typeface="Georgia" pitchFamily="34" charset="0"/>
                <a:ea typeface="Georgia" pitchFamily="34" charset="-122"/>
                <a:cs typeface="Georgia" pitchFamily="34" charset="-120"/>
              </a:rPr>
              <a:t>Improvement</a:t>
            </a:r>
            <a:endParaRPr lang="en-US" sz="2000" dirty="0"/>
          </a:p>
        </p:txBody>
      </p:sp>
      <p:sp>
        <p:nvSpPr>
          <p:cNvPr id="15" name="Text 13"/>
          <p:cNvSpPr/>
          <p:nvPr/>
        </p:nvSpPr>
        <p:spPr>
          <a:xfrm>
            <a:off x="6035040" y="2331720"/>
            <a:ext cx="2743200" cy="731520"/>
          </a:xfrm>
          <a:prstGeom prst="rect">
            <a:avLst/>
          </a:prstGeom>
          <a:noFill/>
          <a:ln/>
        </p:spPr>
        <p:txBody>
          <a:bodyPr wrap="square" rtlCol="0" anchor="ctr"/>
          <a:lstStyle/>
          <a:p>
            <a:pPr marL="0" indent="0" algn="ctr">
              <a:buNone/>
            </a:pPr>
            <a:r>
              <a:rPr lang="en-US" sz="1150" i="1" dirty="0">
                <a:solidFill>
                  <a:srgbClr val="0D2E2E"/>
                </a:solidFill>
                <a:latin typeface="Calibri" pitchFamily="34" charset="0"/>
                <a:ea typeface="Calibri" pitchFamily="34" charset="-122"/>
                <a:cs typeface="Calibri" pitchFamily="34" charset="-120"/>
              </a:rPr>
              <a:t>Small, daily improvements</a:t>
            </a:r>
            <a:endParaRPr lang="en-US" sz="1150" dirty="0"/>
          </a:p>
          <a:p>
            <a:pPr marL="0" indent="0" algn="ctr">
              <a:buNone/>
            </a:pPr>
            <a:r>
              <a:rPr lang="en-US" sz="1150" i="1" dirty="0">
                <a:solidFill>
                  <a:srgbClr val="0D2E2E"/>
                </a:solidFill>
                <a:latin typeface="Calibri" pitchFamily="34" charset="0"/>
                <a:ea typeface="Calibri" pitchFamily="34" charset="-122"/>
                <a:cs typeface="Calibri" pitchFamily="34" charset="-120"/>
              </a:rPr>
              <a:t>by everyone, everywhere</a:t>
            </a:r>
            <a:endParaRPr lang="en-US" sz="1150" dirty="0"/>
          </a:p>
        </p:txBody>
      </p:sp>
      <p:sp>
        <p:nvSpPr>
          <p:cNvPr id="16" name="Shape 14"/>
          <p:cNvSpPr/>
          <p:nvPr/>
        </p:nvSpPr>
        <p:spPr>
          <a:xfrm>
            <a:off x="365760" y="3429000"/>
            <a:ext cx="8412480" cy="1325880"/>
          </a:xfrm>
          <a:prstGeom prst="rect">
            <a:avLst/>
          </a:prstGeom>
          <a:solidFill>
            <a:srgbClr val="E8F7F2"/>
          </a:solidFill>
          <a:ln w="12700">
            <a:solidFill>
              <a:srgbClr val="CBD5E0"/>
            </a:solidFill>
            <a:prstDash val="solid"/>
          </a:ln>
        </p:spPr>
      </p:sp>
      <p:sp>
        <p:nvSpPr>
          <p:cNvPr id="17" name="Text 15"/>
          <p:cNvSpPr/>
          <p:nvPr/>
        </p:nvSpPr>
        <p:spPr>
          <a:xfrm>
            <a:off x="594360" y="3520440"/>
            <a:ext cx="7955280" cy="1097280"/>
          </a:xfrm>
          <a:prstGeom prst="rect">
            <a:avLst/>
          </a:prstGeom>
          <a:noFill/>
          <a:ln/>
        </p:spPr>
        <p:txBody>
          <a:bodyPr wrap="square" rtlCol="0" anchor="ctr"/>
          <a:lstStyle/>
          <a:p>
            <a:pPr marL="0" indent="0">
              <a:buNone/>
            </a:pPr>
            <a:r>
              <a:rPr lang="en-US" sz="1250" b="1" dirty="0">
                <a:solidFill>
                  <a:srgbClr val="0A7C5C"/>
                </a:solidFill>
                <a:latin typeface="Calibri" pitchFamily="34" charset="0"/>
                <a:ea typeface="Calibri" pitchFamily="34" charset="-122"/>
                <a:cs typeface="Calibri" pitchFamily="34" charset="-120"/>
              </a:rPr>
              <a:t>Kaizen </a:t>
            </a:r>
            <a:r>
              <a:rPr lang="en-US" sz="1250" dirty="0">
                <a:solidFill>
                  <a:srgbClr val="1A202C"/>
                </a:solidFill>
                <a:latin typeface="Calibri" pitchFamily="34" charset="0"/>
                <a:ea typeface="Calibri" pitchFamily="34" charset="-122"/>
                <a:cs typeface="Calibri" pitchFamily="34" charset="-120"/>
              </a:rPr>
              <a:t>is a Japanese business philosophy of ongoing, incremental improvement involving everyone — from the CEO to frontline workers. Introduced post-WWII and adopted widely in manufacturing (Toyota Production System), it has since become a core mindset in modern software engineering and DevOps culture.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E2E"/>
          </a:solidFill>
          <a:ln w="12700">
            <a:solidFill>
              <a:srgbClr val="0D2E2E"/>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Core Principles of Kaizen</a:t>
            </a:r>
            <a:endParaRPr lang="en-US" sz="3200" dirty="0"/>
          </a:p>
        </p:txBody>
      </p:sp>
      <p:sp>
        <p:nvSpPr>
          <p:cNvPr id="4" name="Shape 2"/>
          <p:cNvSpPr/>
          <p:nvPr/>
        </p:nvSpPr>
        <p:spPr>
          <a:xfrm>
            <a:off x="274320" y="1188720"/>
            <a:ext cx="2743200" cy="1691640"/>
          </a:xfrm>
          <a:prstGeom prst="rect">
            <a:avLst/>
          </a:prstGeom>
          <a:solidFill>
            <a:srgbClr val="FFFFFF"/>
          </a:solidFill>
          <a:ln w="12700">
            <a:solidFill>
              <a:srgbClr val="18A97B"/>
            </a:solidFill>
            <a:prstDash val="solid"/>
          </a:ln>
          <a:effectLst>
            <a:outerShdw blurRad="63500" dist="25400" dir="8100000" algn="bl" rotWithShape="0">
              <a:srgbClr val="000000">
                <a:alpha val="12000"/>
              </a:srgbClr>
            </a:outerShdw>
          </a:effectLst>
        </p:spPr>
      </p:sp>
      <p:sp>
        <p:nvSpPr>
          <p:cNvPr id="5" name="Shape 3"/>
          <p:cNvSpPr/>
          <p:nvPr/>
        </p:nvSpPr>
        <p:spPr>
          <a:xfrm>
            <a:off x="274320" y="1188720"/>
            <a:ext cx="2743200" cy="384048"/>
          </a:xfrm>
          <a:prstGeom prst="rect">
            <a:avLst/>
          </a:prstGeom>
          <a:solidFill>
            <a:srgbClr val="0A7C5C"/>
          </a:solidFill>
          <a:ln w="12700">
            <a:solidFill>
              <a:srgbClr val="0A7C5C"/>
            </a:solidFill>
            <a:prstDash val="solid"/>
          </a:ln>
        </p:spPr>
      </p:sp>
      <p:sp>
        <p:nvSpPr>
          <p:cNvPr id="6" name="Text 4"/>
          <p:cNvSpPr/>
          <p:nvPr/>
        </p:nvSpPr>
        <p:spPr>
          <a:xfrm>
            <a:off x="365760" y="1225296"/>
            <a:ext cx="256032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Continuous Improvement</a:t>
            </a:r>
            <a:endParaRPr lang="en-US" sz="1150" dirty="0"/>
          </a:p>
        </p:txBody>
      </p:sp>
      <p:sp>
        <p:nvSpPr>
          <p:cNvPr id="7" name="Text 5"/>
          <p:cNvSpPr/>
          <p:nvPr/>
        </p:nvSpPr>
        <p:spPr>
          <a:xfrm>
            <a:off x="365760" y="1645920"/>
            <a:ext cx="2560320" cy="109728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Never stop improving. No process is ever 'finished' — there is always room to do better.</a:t>
            </a:r>
            <a:endParaRPr lang="en-US" sz="1100" dirty="0"/>
          </a:p>
        </p:txBody>
      </p:sp>
      <p:sp>
        <p:nvSpPr>
          <p:cNvPr id="8" name="Shape 6"/>
          <p:cNvSpPr/>
          <p:nvPr/>
        </p:nvSpPr>
        <p:spPr>
          <a:xfrm>
            <a:off x="3218688" y="1188720"/>
            <a:ext cx="2743200" cy="1691640"/>
          </a:xfrm>
          <a:prstGeom prst="rect">
            <a:avLst/>
          </a:prstGeom>
          <a:solidFill>
            <a:srgbClr val="FFFFFF"/>
          </a:solidFill>
          <a:ln w="12700">
            <a:solidFill>
              <a:srgbClr val="18A97B"/>
            </a:solidFill>
            <a:prstDash val="solid"/>
          </a:ln>
          <a:effectLst>
            <a:outerShdw blurRad="63500" dist="25400" dir="8100000" algn="bl" rotWithShape="0">
              <a:srgbClr val="000000">
                <a:alpha val="12000"/>
              </a:srgbClr>
            </a:outerShdw>
          </a:effectLst>
        </p:spPr>
      </p:sp>
      <p:sp>
        <p:nvSpPr>
          <p:cNvPr id="9" name="Shape 7"/>
          <p:cNvSpPr/>
          <p:nvPr/>
        </p:nvSpPr>
        <p:spPr>
          <a:xfrm>
            <a:off x="3218688" y="1188720"/>
            <a:ext cx="2743200" cy="384048"/>
          </a:xfrm>
          <a:prstGeom prst="rect">
            <a:avLst/>
          </a:prstGeom>
          <a:solidFill>
            <a:srgbClr val="0A7C5C"/>
          </a:solidFill>
          <a:ln w="12700">
            <a:solidFill>
              <a:srgbClr val="0A7C5C"/>
            </a:solidFill>
            <a:prstDash val="solid"/>
          </a:ln>
        </p:spPr>
      </p:sp>
      <p:sp>
        <p:nvSpPr>
          <p:cNvPr id="10" name="Text 8"/>
          <p:cNvSpPr/>
          <p:nvPr/>
        </p:nvSpPr>
        <p:spPr>
          <a:xfrm>
            <a:off x="3310128" y="1225296"/>
            <a:ext cx="256032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People-First Culture</a:t>
            </a:r>
            <a:endParaRPr lang="en-US" sz="1150" dirty="0"/>
          </a:p>
        </p:txBody>
      </p:sp>
      <p:sp>
        <p:nvSpPr>
          <p:cNvPr id="11" name="Text 9"/>
          <p:cNvSpPr/>
          <p:nvPr/>
        </p:nvSpPr>
        <p:spPr>
          <a:xfrm>
            <a:off x="3310128" y="1645920"/>
            <a:ext cx="2560320" cy="109728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Improvement ideas come from those doing the work. Every team member contributes.</a:t>
            </a:r>
            <a:endParaRPr lang="en-US" sz="1100" dirty="0"/>
          </a:p>
        </p:txBody>
      </p:sp>
      <p:sp>
        <p:nvSpPr>
          <p:cNvPr id="12" name="Shape 10"/>
          <p:cNvSpPr/>
          <p:nvPr/>
        </p:nvSpPr>
        <p:spPr>
          <a:xfrm>
            <a:off x="6163056" y="1188720"/>
            <a:ext cx="2743200" cy="1691640"/>
          </a:xfrm>
          <a:prstGeom prst="rect">
            <a:avLst/>
          </a:prstGeom>
          <a:solidFill>
            <a:srgbClr val="FFFFFF"/>
          </a:solidFill>
          <a:ln w="12700">
            <a:solidFill>
              <a:srgbClr val="18A97B"/>
            </a:solidFill>
            <a:prstDash val="solid"/>
          </a:ln>
          <a:effectLst>
            <a:outerShdw blurRad="63500" dist="25400" dir="8100000" algn="bl" rotWithShape="0">
              <a:srgbClr val="000000">
                <a:alpha val="12000"/>
              </a:srgbClr>
            </a:outerShdw>
          </a:effectLst>
        </p:spPr>
      </p:sp>
      <p:sp>
        <p:nvSpPr>
          <p:cNvPr id="13" name="Shape 11"/>
          <p:cNvSpPr/>
          <p:nvPr/>
        </p:nvSpPr>
        <p:spPr>
          <a:xfrm>
            <a:off x="6163056" y="1188720"/>
            <a:ext cx="2743200" cy="384048"/>
          </a:xfrm>
          <a:prstGeom prst="rect">
            <a:avLst/>
          </a:prstGeom>
          <a:solidFill>
            <a:srgbClr val="0A7C5C"/>
          </a:solidFill>
          <a:ln w="12700">
            <a:solidFill>
              <a:srgbClr val="0A7C5C"/>
            </a:solidFill>
            <a:prstDash val="solid"/>
          </a:ln>
        </p:spPr>
      </p:sp>
      <p:sp>
        <p:nvSpPr>
          <p:cNvPr id="14" name="Text 12"/>
          <p:cNvSpPr/>
          <p:nvPr/>
        </p:nvSpPr>
        <p:spPr>
          <a:xfrm>
            <a:off x="6254496" y="1225296"/>
            <a:ext cx="256032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Eliminate Waste (Muda)</a:t>
            </a:r>
            <a:endParaRPr lang="en-US" sz="1150" dirty="0"/>
          </a:p>
        </p:txBody>
      </p:sp>
      <p:sp>
        <p:nvSpPr>
          <p:cNvPr id="15" name="Text 13"/>
          <p:cNvSpPr/>
          <p:nvPr/>
        </p:nvSpPr>
        <p:spPr>
          <a:xfrm>
            <a:off x="6254496" y="1645920"/>
            <a:ext cx="2560320" cy="109728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Identify and remove activities that add no value — unnecessary steps, waiting, rework.</a:t>
            </a:r>
            <a:endParaRPr lang="en-US" sz="1100" dirty="0"/>
          </a:p>
        </p:txBody>
      </p:sp>
      <p:sp>
        <p:nvSpPr>
          <p:cNvPr id="16" name="Shape 14"/>
          <p:cNvSpPr/>
          <p:nvPr/>
        </p:nvSpPr>
        <p:spPr>
          <a:xfrm>
            <a:off x="274320" y="3108960"/>
            <a:ext cx="2743200" cy="1691640"/>
          </a:xfrm>
          <a:prstGeom prst="rect">
            <a:avLst/>
          </a:prstGeom>
          <a:solidFill>
            <a:srgbClr val="FFFFFF"/>
          </a:solidFill>
          <a:ln w="12700">
            <a:solidFill>
              <a:srgbClr val="18A97B"/>
            </a:solidFill>
            <a:prstDash val="solid"/>
          </a:ln>
          <a:effectLst>
            <a:outerShdw blurRad="63500" dist="25400" dir="8100000" algn="bl" rotWithShape="0">
              <a:srgbClr val="000000">
                <a:alpha val="12000"/>
              </a:srgbClr>
            </a:outerShdw>
          </a:effectLst>
        </p:spPr>
      </p:sp>
      <p:sp>
        <p:nvSpPr>
          <p:cNvPr id="17" name="Shape 15"/>
          <p:cNvSpPr/>
          <p:nvPr/>
        </p:nvSpPr>
        <p:spPr>
          <a:xfrm>
            <a:off x="274320" y="3108960"/>
            <a:ext cx="2743200" cy="384048"/>
          </a:xfrm>
          <a:prstGeom prst="rect">
            <a:avLst/>
          </a:prstGeom>
          <a:solidFill>
            <a:srgbClr val="0A7C5C"/>
          </a:solidFill>
          <a:ln w="12700">
            <a:solidFill>
              <a:srgbClr val="0A7C5C"/>
            </a:solidFill>
            <a:prstDash val="solid"/>
          </a:ln>
        </p:spPr>
      </p:sp>
      <p:sp>
        <p:nvSpPr>
          <p:cNvPr id="18" name="Text 16"/>
          <p:cNvSpPr/>
          <p:nvPr/>
        </p:nvSpPr>
        <p:spPr>
          <a:xfrm>
            <a:off x="365760" y="3145536"/>
            <a:ext cx="256032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Data-Driven Decisions</a:t>
            </a:r>
            <a:endParaRPr lang="en-US" sz="1150" dirty="0"/>
          </a:p>
        </p:txBody>
      </p:sp>
      <p:sp>
        <p:nvSpPr>
          <p:cNvPr id="19" name="Text 17"/>
          <p:cNvSpPr/>
          <p:nvPr/>
        </p:nvSpPr>
        <p:spPr>
          <a:xfrm>
            <a:off x="365760" y="3566160"/>
            <a:ext cx="2560320" cy="109728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Use metrics, logs, and feedback to understand current state before making changes.</a:t>
            </a:r>
            <a:endParaRPr lang="en-US" sz="1100" dirty="0"/>
          </a:p>
        </p:txBody>
      </p:sp>
      <p:sp>
        <p:nvSpPr>
          <p:cNvPr id="20" name="Shape 18"/>
          <p:cNvSpPr/>
          <p:nvPr/>
        </p:nvSpPr>
        <p:spPr>
          <a:xfrm>
            <a:off x="3218688" y="3108960"/>
            <a:ext cx="2743200" cy="1691640"/>
          </a:xfrm>
          <a:prstGeom prst="rect">
            <a:avLst/>
          </a:prstGeom>
          <a:solidFill>
            <a:srgbClr val="FFFFFF"/>
          </a:solidFill>
          <a:ln w="12700">
            <a:solidFill>
              <a:srgbClr val="18A97B"/>
            </a:solidFill>
            <a:prstDash val="solid"/>
          </a:ln>
          <a:effectLst>
            <a:outerShdw blurRad="63500" dist="25400" dir="8100000" algn="bl" rotWithShape="0">
              <a:srgbClr val="000000">
                <a:alpha val="12000"/>
              </a:srgbClr>
            </a:outerShdw>
          </a:effectLst>
        </p:spPr>
      </p:sp>
      <p:sp>
        <p:nvSpPr>
          <p:cNvPr id="21" name="Shape 19"/>
          <p:cNvSpPr/>
          <p:nvPr/>
        </p:nvSpPr>
        <p:spPr>
          <a:xfrm>
            <a:off x="3218688" y="3108960"/>
            <a:ext cx="2743200" cy="384048"/>
          </a:xfrm>
          <a:prstGeom prst="rect">
            <a:avLst/>
          </a:prstGeom>
          <a:solidFill>
            <a:srgbClr val="0A7C5C"/>
          </a:solidFill>
          <a:ln w="12700">
            <a:solidFill>
              <a:srgbClr val="0A7C5C"/>
            </a:solidFill>
            <a:prstDash val="solid"/>
          </a:ln>
        </p:spPr>
      </p:sp>
      <p:sp>
        <p:nvSpPr>
          <p:cNvPr id="22" name="Text 20"/>
          <p:cNvSpPr/>
          <p:nvPr/>
        </p:nvSpPr>
        <p:spPr>
          <a:xfrm>
            <a:off x="3310128" y="3145536"/>
            <a:ext cx="256032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Standardize &amp; Sustain</a:t>
            </a:r>
            <a:endParaRPr lang="en-US" sz="1150" dirty="0"/>
          </a:p>
        </p:txBody>
      </p:sp>
      <p:sp>
        <p:nvSpPr>
          <p:cNvPr id="23" name="Text 21"/>
          <p:cNvSpPr/>
          <p:nvPr/>
        </p:nvSpPr>
        <p:spPr>
          <a:xfrm>
            <a:off x="3310128" y="3566160"/>
            <a:ext cx="2560320" cy="109728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Once improved, document the new standard to prevent regression and enable future gains.</a:t>
            </a:r>
            <a:endParaRPr lang="en-US" sz="1100" dirty="0"/>
          </a:p>
        </p:txBody>
      </p:sp>
      <p:sp>
        <p:nvSpPr>
          <p:cNvPr id="24" name="Shape 22"/>
          <p:cNvSpPr/>
          <p:nvPr/>
        </p:nvSpPr>
        <p:spPr>
          <a:xfrm>
            <a:off x="6163056" y="3108960"/>
            <a:ext cx="2743200" cy="1691640"/>
          </a:xfrm>
          <a:prstGeom prst="rect">
            <a:avLst/>
          </a:prstGeom>
          <a:solidFill>
            <a:srgbClr val="FFFFFF"/>
          </a:solidFill>
          <a:ln w="12700">
            <a:solidFill>
              <a:srgbClr val="18A97B"/>
            </a:solidFill>
            <a:prstDash val="solid"/>
          </a:ln>
          <a:effectLst>
            <a:outerShdw blurRad="63500" dist="25400" dir="8100000" algn="bl" rotWithShape="0">
              <a:srgbClr val="000000">
                <a:alpha val="12000"/>
              </a:srgbClr>
            </a:outerShdw>
          </a:effectLst>
        </p:spPr>
      </p:sp>
      <p:sp>
        <p:nvSpPr>
          <p:cNvPr id="25" name="Shape 23"/>
          <p:cNvSpPr/>
          <p:nvPr/>
        </p:nvSpPr>
        <p:spPr>
          <a:xfrm>
            <a:off x="6163056" y="3108960"/>
            <a:ext cx="2743200" cy="384048"/>
          </a:xfrm>
          <a:prstGeom prst="rect">
            <a:avLst/>
          </a:prstGeom>
          <a:solidFill>
            <a:srgbClr val="0A7C5C"/>
          </a:solidFill>
          <a:ln w="12700">
            <a:solidFill>
              <a:srgbClr val="0A7C5C"/>
            </a:solidFill>
            <a:prstDash val="solid"/>
          </a:ln>
        </p:spPr>
      </p:sp>
      <p:sp>
        <p:nvSpPr>
          <p:cNvPr id="26" name="Text 24"/>
          <p:cNvSpPr/>
          <p:nvPr/>
        </p:nvSpPr>
        <p:spPr>
          <a:xfrm>
            <a:off x="6254496" y="3145536"/>
            <a:ext cx="256032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Small Incremental Steps</a:t>
            </a:r>
            <a:endParaRPr lang="en-US" sz="1150" dirty="0"/>
          </a:p>
        </p:txBody>
      </p:sp>
      <p:sp>
        <p:nvSpPr>
          <p:cNvPr id="27" name="Text 25"/>
          <p:cNvSpPr/>
          <p:nvPr/>
        </p:nvSpPr>
        <p:spPr>
          <a:xfrm>
            <a:off x="6254496" y="3566160"/>
            <a:ext cx="2560320" cy="109728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Prefer many small changes over rare big transformations — lower risk, faster learning.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E2E"/>
          </a:solidFill>
          <a:ln w="12700">
            <a:solidFill>
              <a:srgbClr val="0D2E2E"/>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PDCA Cycle — Kaizen's Engine</a:t>
            </a:r>
            <a:endParaRPr lang="en-US" sz="3000" dirty="0"/>
          </a:p>
        </p:txBody>
      </p:sp>
      <p:sp>
        <p:nvSpPr>
          <p:cNvPr id="4" name="Shape 2"/>
          <p:cNvSpPr/>
          <p:nvPr/>
        </p:nvSpPr>
        <p:spPr>
          <a:xfrm>
            <a:off x="274320" y="1143000"/>
            <a:ext cx="4114800" cy="1691640"/>
          </a:xfrm>
          <a:prstGeom prst="rect">
            <a:avLst/>
          </a:prstGeom>
          <a:solidFill>
            <a:srgbClr val="FFFFFF"/>
          </a:solidFill>
          <a:ln w="12700">
            <a:solidFill>
              <a:srgbClr val="1B5E7B"/>
            </a:solidFill>
            <a:prstDash val="solid"/>
          </a:ln>
          <a:effectLst>
            <a:outerShdw blurRad="63500" dist="25400" dir="8100000" algn="bl" rotWithShape="0">
              <a:srgbClr val="000000">
                <a:alpha val="12000"/>
              </a:srgbClr>
            </a:outerShdw>
          </a:effectLst>
        </p:spPr>
      </p:sp>
      <p:sp>
        <p:nvSpPr>
          <p:cNvPr id="5" name="Shape 3"/>
          <p:cNvSpPr/>
          <p:nvPr/>
        </p:nvSpPr>
        <p:spPr>
          <a:xfrm>
            <a:off x="274320" y="1143000"/>
            <a:ext cx="822960" cy="1691640"/>
          </a:xfrm>
          <a:prstGeom prst="rect">
            <a:avLst/>
          </a:prstGeom>
          <a:solidFill>
            <a:srgbClr val="1B5E7B"/>
          </a:solidFill>
          <a:ln w="12700">
            <a:solidFill>
              <a:srgbClr val="1B5E7B"/>
            </a:solidFill>
            <a:prstDash val="solid"/>
          </a:ln>
        </p:spPr>
      </p:sp>
      <p:sp>
        <p:nvSpPr>
          <p:cNvPr id="6" name="Text 4"/>
          <p:cNvSpPr/>
          <p:nvPr/>
        </p:nvSpPr>
        <p:spPr>
          <a:xfrm>
            <a:off x="274320" y="1234440"/>
            <a:ext cx="822960" cy="685800"/>
          </a:xfrm>
          <a:prstGeom prst="rect">
            <a:avLst/>
          </a:prstGeom>
          <a:noFill/>
          <a:ln/>
        </p:spPr>
        <p:txBody>
          <a:bodyPr wrap="square"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P</a:t>
            </a:r>
            <a:endParaRPr lang="en-US" sz="3600" dirty="0"/>
          </a:p>
        </p:txBody>
      </p:sp>
      <p:sp>
        <p:nvSpPr>
          <p:cNvPr id="7" name="Text 5"/>
          <p:cNvSpPr/>
          <p:nvPr/>
        </p:nvSpPr>
        <p:spPr>
          <a:xfrm>
            <a:off x="274320" y="1920240"/>
            <a:ext cx="82296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Plan</a:t>
            </a:r>
            <a:endParaRPr lang="en-US" sz="1200" dirty="0"/>
          </a:p>
        </p:txBody>
      </p:sp>
      <p:sp>
        <p:nvSpPr>
          <p:cNvPr id="8" name="Text 6"/>
          <p:cNvSpPr/>
          <p:nvPr/>
        </p:nvSpPr>
        <p:spPr>
          <a:xfrm>
            <a:off x="1188720" y="1234440"/>
            <a:ext cx="3063240" cy="150876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Identify a problem or opportunity for improvement. Analyze current state, set improvement targets and define what changes to try.</a:t>
            </a:r>
            <a:endParaRPr lang="en-US" sz="1150" dirty="0"/>
          </a:p>
        </p:txBody>
      </p:sp>
      <p:sp>
        <p:nvSpPr>
          <p:cNvPr id="9" name="Shape 7"/>
          <p:cNvSpPr/>
          <p:nvPr/>
        </p:nvSpPr>
        <p:spPr>
          <a:xfrm>
            <a:off x="4709160" y="1143000"/>
            <a:ext cx="4114800" cy="1691640"/>
          </a:xfrm>
          <a:prstGeom prst="rect">
            <a:avLst/>
          </a:prstGeom>
          <a:solidFill>
            <a:srgbClr val="FFFFFF"/>
          </a:solidFill>
          <a:ln w="12700">
            <a:solidFill>
              <a:srgbClr val="0A7C5C"/>
            </a:solidFill>
            <a:prstDash val="solid"/>
          </a:ln>
          <a:effectLst>
            <a:outerShdw blurRad="63500" dist="25400" dir="8100000" algn="bl" rotWithShape="0">
              <a:srgbClr val="000000">
                <a:alpha val="12000"/>
              </a:srgbClr>
            </a:outerShdw>
          </a:effectLst>
        </p:spPr>
      </p:sp>
      <p:sp>
        <p:nvSpPr>
          <p:cNvPr id="10" name="Shape 8"/>
          <p:cNvSpPr/>
          <p:nvPr/>
        </p:nvSpPr>
        <p:spPr>
          <a:xfrm>
            <a:off x="4709160" y="1143000"/>
            <a:ext cx="822960" cy="1691640"/>
          </a:xfrm>
          <a:prstGeom prst="rect">
            <a:avLst/>
          </a:prstGeom>
          <a:solidFill>
            <a:srgbClr val="0A7C5C"/>
          </a:solidFill>
          <a:ln w="12700">
            <a:solidFill>
              <a:srgbClr val="0A7C5C"/>
            </a:solidFill>
            <a:prstDash val="solid"/>
          </a:ln>
        </p:spPr>
      </p:sp>
      <p:sp>
        <p:nvSpPr>
          <p:cNvPr id="11" name="Text 9"/>
          <p:cNvSpPr/>
          <p:nvPr/>
        </p:nvSpPr>
        <p:spPr>
          <a:xfrm>
            <a:off x="4709160" y="1234440"/>
            <a:ext cx="822960" cy="685800"/>
          </a:xfrm>
          <a:prstGeom prst="rect">
            <a:avLst/>
          </a:prstGeom>
          <a:noFill/>
          <a:ln/>
        </p:spPr>
        <p:txBody>
          <a:bodyPr wrap="square"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D</a:t>
            </a:r>
            <a:endParaRPr lang="en-US" sz="3600" dirty="0"/>
          </a:p>
        </p:txBody>
      </p:sp>
      <p:sp>
        <p:nvSpPr>
          <p:cNvPr id="12" name="Text 10"/>
          <p:cNvSpPr/>
          <p:nvPr/>
        </p:nvSpPr>
        <p:spPr>
          <a:xfrm>
            <a:off x="4709160" y="1920240"/>
            <a:ext cx="82296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Do</a:t>
            </a:r>
            <a:endParaRPr lang="en-US" sz="1200" dirty="0"/>
          </a:p>
        </p:txBody>
      </p:sp>
      <p:sp>
        <p:nvSpPr>
          <p:cNvPr id="13" name="Text 11"/>
          <p:cNvSpPr/>
          <p:nvPr/>
        </p:nvSpPr>
        <p:spPr>
          <a:xfrm>
            <a:off x="5623560" y="1234440"/>
            <a:ext cx="3063240" cy="150876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Implement the planned change on a small scale or pilot. Document observations carefully during execution.</a:t>
            </a:r>
            <a:endParaRPr lang="en-US" sz="1150" dirty="0"/>
          </a:p>
        </p:txBody>
      </p:sp>
      <p:sp>
        <p:nvSpPr>
          <p:cNvPr id="14" name="Shape 12"/>
          <p:cNvSpPr/>
          <p:nvPr/>
        </p:nvSpPr>
        <p:spPr>
          <a:xfrm>
            <a:off x="274320" y="3063240"/>
            <a:ext cx="4114800" cy="1691640"/>
          </a:xfrm>
          <a:prstGeom prst="rect">
            <a:avLst/>
          </a:prstGeom>
          <a:solidFill>
            <a:srgbClr val="FFFFFF"/>
          </a:solidFill>
          <a:ln w="12700">
            <a:solidFill>
              <a:srgbClr val="E67E22"/>
            </a:solidFill>
            <a:prstDash val="solid"/>
          </a:ln>
          <a:effectLst>
            <a:outerShdw blurRad="63500" dist="25400" dir="8100000" algn="bl" rotWithShape="0">
              <a:srgbClr val="000000">
                <a:alpha val="12000"/>
              </a:srgbClr>
            </a:outerShdw>
          </a:effectLst>
        </p:spPr>
      </p:sp>
      <p:sp>
        <p:nvSpPr>
          <p:cNvPr id="15" name="Shape 13"/>
          <p:cNvSpPr/>
          <p:nvPr/>
        </p:nvSpPr>
        <p:spPr>
          <a:xfrm>
            <a:off x="274320" y="3063240"/>
            <a:ext cx="822960" cy="1691640"/>
          </a:xfrm>
          <a:prstGeom prst="rect">
            <a:avLst/>
          </a:prstGeom>
          <a:solidFill>
            <a:srgbClr val="E67E22"/>
          </a:solidFill>
          <a:ln w="12700">
            <a:solidFill>
              <a:srgbClr val="E67E22"/>
            </a:solidFill>
            <a:prstDash val="solid"/>
          </a:ln>
        </p:spPr>
      </p:sp>
      <p:sp>
        <p:nvSpPr>
          <p:cNvPr id="16" name="Text 14"/>
          <p:cNvSpPr/>
          <p:nvPr/>
        </p:nvSpPr>
        <p:spPr>
          <a:xfrm>
            <a:off x="274320" y="3154680"/>
            <a:ext cx="822960" cy="685800"/>
          </a:xfrm>
          <a:prstGeom prst="rect">
            <a:avLst/>
          </a:prstGeom>
          <a:noFill/>
          <a:ln/>
        </p:spPr>
        <p:txBody>
          <a:bodyPr wrap="square"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C</a:t>
            </a:r>
            <a:endParaRPr lang="en-US" sz="3600" dirty="0"/>
          </a:p>
        </p:txBody>
      </p:sp>
      <p:sp>
        <p:nvSpPr>
          <p:cNvPr id="17" name="Text 15"/>
          <p:cNvSpPr/>
          <p:nvPr/>
        </p:nvSpPr>
        <p:spPr>
          <a:xfrm>
            <a:off x="274320" y="3840480"/>
            <a:ext cx="82296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18" name="Text 16"/>
          <p:cNvSpPr/>
          <p:nvPr/>
        </p:nvSpPr>
        <p:spPr>
          <a:xfrm>
            <a:off x="1188720" y="3154680"/>
            <a:ext cx="3063240" cy="150876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Measure results against the targets. Compare actual vs expected outcomes. Use data — not assumptions — to evaluate.</a:t>
            </a:r>
            <a:endParaRPr lang="en-US" sz="1150" dirty="0"/>
          </a:p>
        </p:txBody>
      </p:sp>
      <p:sp>
        <p:nvSpPr>
          <p:cNvPr id="19" name="Shape 17"/>
          <p:cNvSpPr/>
          <p:nvPr/>
        </p:nvSpPr>
        <p:spPr>
          <a:xfrm>
            <a:off x="4709160" y="3063240"/>
            <a:ext cx="4114800" cy="1691640"/>
          </a:xfrm>
          <a:prstGeom prst="rect">
            <a:avLst/>
          </a:prstGeom>
          <a:solidFill>
            <a:srgbClr val="FFFFFF"/>
          </a:solidFill>
          <a:ln w="12700">
            <a:solidFill>
              <a:srgbClr val="C0392B"/>
            </a:solidFill>
            <a:prstDash val="solid"/>
          </a:ln>
          <a:effectLst>
            <a:outerShdw blurRad="63500" dist="25400" dir="8100000" algn="bl" rotWithShape="0">
              <a:srgbClr val="000000">
                <a:alpha val="12000"/>
              </a:srgbClr>
            </a:outerShdw>
          </a:effectLst>
        </p:spPr>
      </p:sp>
      <p:sp>
        <p:nvSpPr>
          <p:cNvPr id="20" name="Shape 18"/>
          <p:cNvSpPr/>
          <p:nvPr/>
        </p:nvSpPr>
        <p:spPr>
          <a:xfrm>
            <a:off x="4709160" y="3063240"/>
            <a:ext cx="822960" cy="1691640"/>
          </a:xfrm>
          <a:prstGeom prst="rect">
            <a:avLst/>
          </a:prstGeom>
          <a:solidFill>
            <a:srgbClr val="C0392B"/>
          </a:solidFill>
          <a:ln w="12700">
            <a:solidFill>
              <a:srgbClr val="C0392B"/>
            </a:solidFill>
            <a:prstDash val="solid"/>
          </a:ln>
        </p:spPr>
      </p:sp>
      <p:sp>
        <p:nvSpPr>
          <p:cNvPr id="21" name="Text 19"/>
          <p:cNvSpPr/>
          <p:nvPr/>
        </p:nvSpPr>
        <p:spPr>
          <a:xfrm>
            <a:off x="4709160" y="3154680"/>
            <a:ext cx="822960" cy="685800"/>
          </a:xfrm>
          <a:prstGeom prst="rect">
            <a:avLst/>
          </a:prstGeom>
          <a:noFill/>
          <a:ln/>
        </p:spPr>
        <p:txBody>
          <a:bodyPr wrap="square"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A</a:t>
            </a:r>
            <a:endParaRPr lang="en-US" sz="3600" dirty="0"/>
          </a:p>
        </p:txBody>
      </p:sp>
      <p:sp>
        <p:nvSpPr>
          <p:cNvPr id="22" name="Text 20"/>
          <p:cNvSpPr/>
          <p:nvPr/>
        </p:nvSpPr>
        <p:spPr>
          <a:xfrm>
            <a:off x="4709160" y="3840480"/>
            <a:ext cx="82296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a:t>
            </a:r>
            <a:endParaRPr lang="en-US" sz="1200" dirty="0"/>
          </a:p>
        </p:txBody>
      </p:sp>
      <p:sp>
        <p:nvSpPr>
          <p:cNvPr id="23" name="Text 21"/>
          <p:cNvSpPr/>
          <p:nvPr/>
        </p:nvSpPr>
        <p:spPr>
          <a:xfrm>
            <a:off x="5623560" y="3154680"/>
            <a:ext cx="3063240" cy="150876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If successful, standardize the change and roll it out broadly. If not, adjust and loop back to Plan.</a:t>
            </a:r>
            <a:endParaRPr lang="en-US" sz="1150" dirty="0"/>
          </a:p>
        </p:txBody>
      </p:sp>
      <p:sp>
        <p:nvSpPr>
          <p:cNvPr id="24" name="Text 22"/>
          <p:cNvSpPr/>
          <p:nvPr/>
        </p:nvSpPr>
        <p:spPr>
          <a:xfrm>
            <a:off x="2743200" y="4663440"/>
            <a:ext cx="3657600" cy="365760"/>
          </a:xfrm>
          <a:prstGeom prst="rect">
            <a:avLst/>
          </a:prstGeom>
          <a:noFill/>
          <a:ln/>
        </p:spPr>
        <p:txBody>
          <a:bodyPr wrap="square" rtlCol="0" anchor="ctr"/>
          <a:lstStyle/>
          <a:p>
            <a:pPr marL="0" indent="0" algn="ctr">
              <a:buNone/>
            </a:pPr>
            <a:r>
              <a:rPr lang="en-US" sz="1200" i="1" dirty="0">
                <a:solidFill>
                  <a:srgbClr val="0A7C5C"/>
                </a:solidFill>
                <a:latin typeface="Calibri" pitchFamily="34" charset="0"/>
                <a:ea typeface="Calibri" pitchFamily="34" charset="-122"/>
                <a:cs typeface="Calibri" pitchFamily="34" charset="-120"/>
              </a:rPr>
              <a:t>↻  Repeat until excellence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E2E"/>
          </a:solidFill>
          <a:ln w="12700">
            <a:solidFill>
              <a:srgbClr val="0D2E2E"/>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Kaizen in the DevOps Context</a:t>
            </a:r>
            <a:endParaRPr lang="en-US" sz="3000" dirty="0"/>
          </a:p>
        </p:txBody>
      </p:sp>
      <p:sp>
        <p:nvSpPr>
          <p:cNvPr id="4" name="Shape 2"/>
          <p:cNvSpPr/>
          <p:nvPr/>
        </p:nvSpPr>
        <p:spPr>
          <a:xfrm>
            <a:off x="274320" y="1097280"/>
            <a:ext cx="5029200" cy="347472"/>
          </a:xfrm>
          <a:prstGeom prst="rect">
            <a:avLst/>
          </a:prstGeom>
          <a:solidFill>
            <a:srgbClr val="18A97B"/>
          </a:solidFill>
          <a:ln w="12700">
            <a:solidFill>
              <a:srgbClr val="18A97B"/>
            </a:solidFill>
            <a:prstDash val="solid"/>
          </a:ln>
        </p:spPr>
      </p:sp>
      <p:sp>
        <p:nvSpPr>
          <p:cNvPr id="5" name="Text 3"/>
          <p:cNvSpPr/>
          <p:nvPr/>
        </p:nvSpPr>
        <p:spPr>
          <a:xfrm>
            <a:off x="457200" y="1115568"/>
            <a:ext cx="47548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How Kaizen Maps to DevOps Practices</a:t>
            </a:r>
            <a:endParaRPr lang="en-US" sz="1300" dirty="0"/>
          </a:p>
        </p:txBody>
      </p:sp>
      <p:sp>
        <p:nvSpPr>
          <p:cNvPr id="6" name="Shape 4"/>
          <p:cNvSpPr/>
          <p:nvPr/>
        </p:nvSpPr>
        <p:spPr>
          <a:xfrm>
            <a:off x="274320" y="1572768"/>
            <a:ext cx="5029200" cy="566928"/>
          </a:xfrm>
          <a:prstGeom prst="rect">
            <a:avLst/>
          </a:prstGeom>
          <a:solidFill>
            <a:srgbClr val="E8F7F2"/>
          </a:solidFill>
          <a:ln w="12700">
            <a:solidFill>
              <a:srgbClr val="CBD5E0"/>
            </a:solidFill>
            <a:prstDash val="solid"/>
          </a:ln>
        </p:spPr>
      </p:sp>
      <p:sp>
        <p:nvSpPr>
          <p:cNvPr id="7" name="Text 5"/>
          <p:cNvSpPr/>
          <p:nvPr/>
        </p:nvSpPr>
        <p:spPr>
          <a:xfrm>
            <a:off x="411480" y="1609344"/>
            <a:ext cx="1371600" cy="228600"/>
          </a:xfrm>
          <a:prstGeom prst="rect">
            <a:avLst/>
          </a:prstGeom>
          <a:noFill/>
          <a:ln/>
        </p:spPr>
        <p:txBody>
          <a:bodyPr wrap="square" rtlCol="0" anchor="ctr"/>
          <a:lstStyle/>
          <a:p>
            <a:pPr marL="0" indent="0">
              <a:buNone/>
            </a:pPr>
            <a:r>
              <a:rPr lang="en-US" sz="1150" b="1" dirty="0">
                <a:solidFill>
                  <a:srgbClr val="0A7C5C"/>
                </a:solidFill>
                <a:latin typeface="Calibri" pitchFamily="34" charset="0"/>
                <a:ea typeface="Calibri" pitchFamily="34" charset="-122"/>
                <a:cs typeface="Calibri" pitchFamily="34" charset="-120"/>
              </a:rPr>
              <a:t>Retrospectives</a:t>
            </a:r>
            <a:endParaRPr lang="en-US" sz="1150" dirty="0"/>
          </a:p>
        </p:txBody>
      </p:sp>
      <p:sp>
        <p:nvSpPr>
          <p:cNvPr id="8" name="Text 6"/>
          <p:cNvSpPr/>
          <p:nvPr/>
        </p:nvSpPr>
        <p:spPr>
          <a:xfrm>
            <a:off x="411480" y="1847088"/>
            <a:ext cx="4754880" cy="25603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Teams reflect and pick ONE thing to improve each sprint — classic Kaizen applied.</a:t>
            </a:r>
            <a:endParaRPr lang="en-US" sz="1050" dirty="0"/>
          </a:p>
        </p:txBody>
      </p:sp>
      <p:sp>
        <p:nvSpPr>
          <p:cNvPr id="9" name="Shape 7"/>
          <p:cNvSpPr/>
          <p:nvPr/>
        </p:nvSpPr>
        <p:spPr>
          <a:xfrm>
            <a:off x="274320" y="2240280"/>
            <a:ext cx="5029200" cy="566928"/>
          </a:xfrm>
          <a:prstGeom prst="rect">
            <a:avLst/>
          </a:prstGeom>
          <a:solidFill>
            <a:srgbClr val="FFFFFF"/>
          </a:solidFill>
          <a:ln w="12700">
            <a:solidFill>
              <a:srgbClr val="CBD5E0"/>
            </a:solidFill>
            <a:prstDash val="solid"/>
          </a:ln>
        </p:spPr>
      </p:sp>
      <p:sp>
        <p:nvSpPr>
          <p:cNvPr id="10" name="Text 8"/>
          <p:cNvSpPr/>
          <p:nvPr/>
        </p:nvSpPr>
        <p:spPr>
          <a:xfrm>
            <a:off x="411480" y="2276856"/>
            <a:ext cx="1371600" cy="228600"/>
          </a:xfrm>
          <a:prstGeom prst="rect">
            <a:avLst/>
          </a:prstGeom>
          <a:noFill/>
          <a:ln/>
        </p:spPr>
        <p:txBody>
          <a:bodyPr wrap="square" rtlCol="0" anchor="ctr"/>
          <a:lstStyle/>
          <a:p>
            <a:pPr marL="0" indent="0">
              <a:buNone/>
            </a:pPr>
            <a:r>
              <a:rPr lang="en-US" sz="1150" b="1" dirty="0">
                <a:solidFill>
                  <a:srgbClr val="0A7C5C"/>
                </a:solidFill>
                <a:latin typeface="Calibri" pitchFamily="34" charset="0"/>
                <a:ea typeface="Calibri" pitchFamily="34" charset="-122"/>
                <a:cs typeface="Calibri" pitchFamily="34" charset="-120"/>
              </a:rPr>
              <a:t>CI/CD Pipelines</a:t>
            </a:r>
            <a:endParaRPr lang="en-US" sz="1150" dirty="0"/>
          </a:p>
        </p:txBody>
      </p:sp>
      <p:sp>
        <p:nvSpPr>
          <p:cNvPr id="11" name="Text 9"/>
          <p:cNvSpPr/>
          <p:nvPr/>
        </p:nvSpPr>
        <p:spPr>
          <a:xfrm>
            <a:off x="411480" y="2514600"/>
            <a:ext cx="4754880" cy="25603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Automated feedback loops reduce waste and enable fast, incremental deployments.</a:t>
            </a:r>
            <a:endParaRPr lang="en-US" sz="1050" dirty="0"/>
          </a:p>
        </p:txBody>
      </p:sp>
      <p:sp>
        <p:nvSpPr>
          <p:cNvPr id="12" name="Shape 10"/>
          <p:cNvSpPr/>
          <p:nvPr/>
        </p:nvSpPr>
        <p:spPr>
          <a:xfrm>
            <a:off x="274320" y="2907792"/>
            <a:ext cx="5029200" cy="566928"/>
          </a:xfrm>
          <a:prstGeom prst="rect">
            <a:avLst/>
          </a:prstGeom>
          <a:solidFill>
            <a:srgbClr val="E8F7F2"/>
          </a:solidFill>
          <a:ln w="12700">
            <a:solidFill>
              <a:srgbClr val="CBD5E0"/>
            </a:solidFill>
            <a:prstDash val="solid"/>
          </a:ln>
        </p:spPr>
      </p:sp>
      <p:sp>
        <p:nvSpPr>
          <p:cNvPr id="13" name="Text 11"/>
          <p:cNvSpPr/>
          <p:nvPr/>
        </p:nvSpPr>
        <p:spPr>
          <a:xfrm>
            <a:off x="411480" y="2944368"/>
            <a:ext cx="1371600" cy="228600"/>
          </a:xfrm>
          <a:prstGeom prst="rect">
            <a:avLst/>
          </a:prstGeom>
          <a:noFill/>
          <a:ln/>
        </p:spPr>
        <p:txBody>
          <a:bodyPr wrap="square" rtlCol="0" anchor="ctr"/>
          <a:lstStyle/>
          <a:p>
            <a:pPr marL="0" indent="0">
              <a:buNone/>
            </a:pPr>
            <a:r>
              <a:rPr lang="en-US" sz="1150" b="1" dirty="0">
                <a:solidFill>
                  <a:srgbClr val="0A7C5C"/>
                </a:solidFill>
                <a:latin typeface="Calibri" pitchFamily="34" charset="0"/>
                <a:ea typeface="Calibri" pitchFamily="34" charset="-122"/>
                <a:cs typeface="Calibri" pitchFamily="34" charset="-120"/>
              </a:rPr>
              <a:t>Monitoring &amp; Alerts</a:t>
            </a:r>
            <a:endParaRPr lang="en-US" sz="1150" dirty="0"/>
          </a:p>
        </p:txBody>
      </p:sp>
      <p:sp>
        <p:nvSpPr>
          <p:cNvPr id="14" name="Text 12"/>
          <p:cNvSpPr/>
          <p:nvPr/>
        </p:nvSpPr>
        <p:spPr>
          <a:xfrm>
            <a:off x="411480" y="3182112"/>
            <a:ext cx="4754880" cy="25603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Observability tools act as the 'Check' step — giving data to drive next improvements.</a:t>
            </a:r>
            <a:endParaRPr lang="en-US" sz="1050" dirty="0"/>
          </a:p>
        </p:txBody>
      </p:sp>
      <p:sp>
        <p:nvSpPr>
          <p:cNvPr id="15" name="Shape 13"/>
          <p:cNvSpPr/>
          <p:nvPr/>
        </p:nvSpPr>
        <p:spPr>
          <a:xfrm>
            <a:off x="274320" y="3575304"/>
            <a:ext cx="5029200" cy="566928"/>
          </a:xfrm>
          <a:prstGeom prst="rect">
            <a:avLst/>
          </a:prstGeom>
          <a:solidFill>
            <a:srgbClr val="FFFFFF"/>
          </a:solidFill>
          <a:ln w="12700">
            <a:solidFill>
              <a:srgbClr val="CBD5E0"/>
            </a:solidFill>
            <a:prstDash val="solid"/>
          </a:ln>
        </p:spPr>
      </p:sp>
      <p:sp>
        <p:nvSpPr>
          <p:cNvPr id="16" name="Text 14"/>
          <p:cNvSpPr/>
          <p:nvPr/>
        </p:nvSpPr>
        <p:spPr>
          <a:xfrm>
            <a:off x="411480" y="3611880"/>
            <a:ext cx="1371600" cy="228600"/>
          </a:xfrm>
          <a:prstGeom prst="rect">
            <a:avLst/>
          </a:prstGeom>
          <a:noFill/>
          <a:ln/>
        </p:spPr>
        <p:txBody>
          <a:bodyPr wrap="square" rtlCol="0" anchor="ctr"/>
          <a:lstStyle/>
          <a:p>
            <a:pPr marL="0" indent="0">
              <a:buNone/>
            </a:pPr>
            <a:r>
              <a:rPr lang="en-US" sz="1150" b="1" dirty="0">
                <a:solidFill>
                  <a:srgbClr val="0A7C5C"/>
                </a:solidFill>
                <a:latin typeface="Calibri" pitchFamily="34" charset="0"/>
                <a:ea typeface="Calibri" pitchFamily="34" charset="-122"/>
                <a:cs typeface="Calibri" pitchFamily="34" charset="-120"/>
              </a:rPr>
              <a:t>Blameless Post-mortems</a:t>
            </a:r>
            <a:endParaRPr lang="en-US" sz="1150" dirty="0"/>
          </a:p>
        </p:txBody>
      </p:sp>
      <p:sp>
        <p:nvSpPr>
          <p:cNvPr id="17" name="Text 15"/>
          <p:cNvSpPr/>
          <p:nvPr/>
        </p:nvSpPr>
        <p:spPr>
          <a:xfrm>
            <a:off x="411480" y="3849624"/>
            <a:ext cx="4754880" cy="25603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Incidents become learning events, not blame games — core to Kaizen culture.</a:t>
            </a:r>
            <a:endParaRPr lang="en-US" sz="1050" dirty="0"/>
          </a:p>
        </p:txBody>
      </p:sp>
      <p:sp>
        <p:nvSpPr>
          <p:cNvPr id="18" name="Shape 16"/>
          <p:cNvSpPr/>
          <p:nvPr/>
        </p:nvSpPr>
        <p:spPr>
          <a:xfrm>
            <a:off x="274320" y="4242816"/>
            <a:ext cx="5029200" cy="566928"/>
          </a:xfrm>
          <a:prstGeom prst="rect">
            <a:avLst/>
          </a:prstGeom>
          <a:solidFill>
            <a:srgbClr val="E8F7F2"/>
          </a:solidFill>
          <a:ln w="12700">
            <a:solidFill>
              <a:srgbClr val="CBD5E0"/>
            </a:solidFill>
            <a:prstDash val="solid"/>
          </a:ln>
        </p:spPr>
      </p:sp>
      <p:sp>
        <p:nvSpPr>
          <p:cNvPr id="19" name="Text 17"/>
          <p:cNvSpPr/>
          <p:nvPr/>
        </p:nvSpPr>
        <p:spPr>
          <a:xfrm>
            <a:off x="411480" y="4279392"/>
            <a:ext cx="1371600" cy="228600"/>
          </a:xfrm>
          <a:prstGeom prst="rect">
            <a:avLst/>
          </a:prstGeom>
          <a:noFill/>
          <a:ln/>
        </p:spPr>
        <p:txBody>
          <a:bodyPr wrap="square" rtlCol="0" anchor="ctr"/>
          <a:lstStyle/>
          <a:p>
            <a:pPr marL="0" indent="0">
              <a:buNone/>
            </a:pPr>
            <a:r>
              <a:rPr lang="en-US" sz="1150" b="1" dirty="0">
                <a:solidFill>
                  <a:srgbClr val="0A7C5C"/>
                </a:solidFill>
                <a:latin typeface="Calibri" pitchFamily="34" charset="0"/>
                <a:ea typeface="Calibri" pitchFamily="34" charset="-122"/>
                <a:cs typeface="Calibri" pitchFamily="34" charset="-120"/>
              </a:rPr>
              <a:t>Feature Flags</a:t>
            </a:r>
            <a:endParaRPr lang="en-US" sz="1150" dirty="0"/>
          </a:p>
        </p:txBody>
      </p:sp>
      <p:sp>
        <p:nvSpPr>
          <p:cNvPr id="20" name="Text 18"/>
          <p:cNvSpPr/>
          <p:nvPr/>
        </p:nvSpPr>
        <p:spPr>
          <a:xfrm>
            <a:off x="411480" y="4517136"/>
            <a:ext cx="4754880" cy="25603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Roll out changes incrementally rather than all at once — reduce risk, learn faster.</a:t>
            </a:r>
            <a:endParaRPr lang="en-US" sz="1050" dirty="0"/>
          </a:p>
        </p:txBody>
      </p:sp>
      <p:sp>
        <p:nvSpPr>
          <p:cNvPr id="21" name="Shape 19"/>
          <p:cNvSpPr/>
          <p:nvPr/>
        </p:nvSpPr>
        <p:spPr>
          <a:xfrm>
            <a:off x="5669280" y="1097280"/>
            <a:ext cx="3200400" cy="347472"/>
          </a:xfrm>
          <a:prstGeom prst="rect">
            <a:avLst/>
          </a:prstGeom>
          <a:solidFill>
            <a:srgbClr val="0A7C5C"/>
          </a:solidFill>
          <a:ln w="12700">
            <a:solidFill>
              <a:srgbClr val="0A7C5C"/>
            </a:solidFill>
            <a:prstDash val="solid"/>
          </a:ln>
        </p:spPr>
      </p:sp>
      <p:sp>
        <p:nvSpPr>
          <p:cNvPr id="22" name="Text 20"/>
          <p:cNvSpPr/>
          <p:nvPr/>
        </p:nvSpPr>
        <p:spPr>
          <a:xfrm>
            <a:off x="5669280" y="1115568"/>
            <a:ext cx="320040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DevOps + Kaizen Lifecycle</a:t>
            </a:r>
            <a:endParaRPr lang="en-US" sz="1200" dirty="0"/>
          </a:p>
        </p:txBody>
      </p:sp>
      <p:sp>
        <p:nvSpPr>
          <p:cNvPr id="23" name="Shape 21"/>
          <p:cNvSpPr/>
          <p:nvPr/>
        </p:nvSpPr>
        <p:spPr>
          <a:xfrm>
            <a:off x="5852160" y="1572768"/>
            <a:ext cx="2926080" cy="365760"/>
          </a:xfrm>
          <a:prstGeom prst="rect">
            <a:avLst/>
          </a:prstGeom>
          <a:solidFill>
            <a:srgbClr val="0A7C5C"/>
          </a:solidFill>
          <a:ln w="12700">
            <a:solidFill>
              <a:srgbClr val="0A7C5C"/>
            </a:solidFill>
            <a:prstDash val="solid"/>
          </a:ln>
          <a:effectLst>
            <a:outerShdw blurRad="63500" dist="25400" dir="8100000" algn="bl" rotWithShape="0">
              <a:srgbClr val="000000">
                <a:alpha val="12000"/>
              </a:srgbClr>
            </a:outerShdw>
          </a:effectLst>
        </p:spPr>
      </p:sp>
      <p:sp>
        <p:nvSpPr>
          <p:cNvPr id="24" name="Text 22"/>
          <p:cNvSpPr/>
          <p:nvPr/>
        </p:nvSpPr>
        <p:spPr>
          <a:xfrm>
            <a:off x="5852160" y="1609344"/>
            <a:ext cx="292608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  Plan</a:t>
            </a:r>
            <a:endParaRPr lang="en-US" sz="1200" dirty="0"/>
          </a:p>
        </p:txBody>
      </p:sp>
      <p:sp>
        <p:nvSpPr>
          <p:cNvPr id="25" name="Text 23"/>
          <p:cNvSpPr/>
          <p:nvPr/>
        </p:nvSpPr>
        <p:spPr>
          <a:xfrm>
            <a:off x="7132320" y="1938528"/>
            <a:ext cx="365760" cy="201168"/>
          </a:xfrm>
          <a:prstGeom prst="rect">
            <a:avLst/>
          </a:prstGeom>
          <a:noFill/>
          <a:ln/>
        </p:spPr>
        <p:txBody>
          <a:bodyPr wrap="square" rtlCol="0" anchor="ctr"/>
          <a:lstStyle/>
          <a:p>
            <a:pPr marL="0" indent="0" algn="ctr">
              <a:buNone/>
            </a:pPr>
            <a:r>
              <a:rPr lang="en-US" sz="900" dirty="0">
                <a:solidFill>
                  <a:srgbClr val="4A5568"/>
                </a:solidFill>
              </a:rPr>
              <a:t>▼</a:t>
            </a:r>
            <a:endParaRPr lang="en-US" sz="900" dirty="0"/>
          </a:p>
        </p:txBody>
      </p:sp>
      <p:sp>
        <p:nvSpPr>
          <p:cNvPr id="26" name="Shape 24"/>
          <p:cNvSpPr/>
          <p:nvPr/>
        </p:nvSpPr>
        <p:spPr>
          <a:xfrm>
            <a:off x="5852160" y="2048256"/>
            <a:ext cx="2926080" cy="365760"/>
          </a:xfrm>
          <a:prstGeom prst="rect">
            <a:avLst/>
          </a:prstGeom>
          <a:solidFill>
            <a:srgbClr val="18A97B"/>
          </a:solidFill>
          <a:ln w="12700">
            <a:solidFill>
              <a:srgbClr val="18A97B"/>
            </a:solidFill>
            <a:prstDash val="solid"/>
          </a:ln>
          <a:effectLst>
            <a:outerShdw blurRad="63500" dist="25400" dir="8100000" algn="bl" rotWithShape="0">
              <a:srgbClr val="000000">
                <a:alpha val="12000"/>
              </a:srgbClr>
            </a:outerShdw>
          </a:effectLst>
        </p:spPr>
      </p:sp>
      <p:sp>
        <p:nvSpPr>
          <p:cNvPr id="27" name="Text 25"/>
          <p:cNvSpPr/>
          <p:nvPr/>
        </p:nvSpPr>
        <p:spPr>
          <a:xfrm>
            <a:off x="5852160" y="2084832"/>
            <a:ext cx="292608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  Code</a:t>
            </a:r>
            <a:endParaRPr lang="en-US" sz="1200" dirty="0"/>
          </a:p>
        </p:txBody>
      </p:sp>
      <p:sp>
        <p:nvSpPr>
          <p:cNvPr id="28" name="Text 26"/>
          <p:cNvSpPr/>
          <p:nvPr/>
        </p:nvSpPr>
        <p:spPr>
          <a:xfrm>
            <a:off x="7132320" y="2414016"/>
            <a:ext cx="365760" cy="201168"/>
          </a:xfrm>
          <a:prstGeom prst="rect">
            <a:avLst/>
          </a:prstGeom>
          <a:noFill/>
          <a:ln/>
        </p:spPr>
        <p:txBody>
          <a:bodyPr wrap="square" rtlCol="0" anchor="ctr"/>
          <a:lstStyle/>
          <a:p>
            <a:pPr marL="0" indent="0" algn="ctr">
              <a:buNone/>
            </a:pPr>
            <a:r>
              <a:rPr lang="en-US" sz="900" dirty="0">
                <a:solidFill>
                  <a:srgbClr val="4A5568"/>
                </a:solidFill>
              </a:rPr>
              <a:t>▼</a:t>
            </a:r>
            <a:endParaRPr lang="en-US" sz="900" dirty="0"/>
          </a:p>
        </p:txBody>
      </p:sp>
      <p:sp>
        <p:nvSpPr>
          <p:cNvPr id="29" name="Shape 27"/>
          <p:cNvSpPr/>
          <p:nvPr/>
        </p:nvSpPr>
        <p:spPr>
          <a:xfrm>
            <a:off x="5852160" y="2523744"/>
            <a:ext cx="2926080" cy="365760"/>
          </a:xfrm>
          <a:prstGeom prst="rect">
            <a:avLst/>
          </a:prstGeom>
          <a:solidFill>
            <a:srgbClr val="0A7C5C"/>
          </a:solidFill>
          <a:ln w="12700">
            <a:solidFill>
              <a:srgbClr val="0A7C5C"/>
            </a:solidFill>
            <a:prstDash val="solid"/>
          </a:ln>
          <a:effectLst>
            <a:outerShdw blurRad="63500" dist="25400" dir="8100000" algn="bl" rotWithShape="0">
              <a:srgbClr val="000000">
                <a:alpha val="12000"/>
              </a:srgbClr>
            </a:outerShdw>
          </a:effectLst>
        </p:spPr>
      </p:sp>
      <p:sp>
        <p:nvSpPr>
          <p:cNvPr id="30" name="Text 28"/>
          <p:cNvSpPr/>
          <p:nvPr/>
        </p:nvSpPr>
        <p:spPr>
          <a:xfrm>
            <a:off x="5852160" y="2560320"/>
            <a:ext cx="292608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  Build</a:t>
            </a:r>
            <a:endParaRPr lang="en-US" sz="1200" dirty="0"/>
          </a:p>
        </p:txBody>
      </p:sp>
      <p:sp>
        <p:nvSpPr>
          <p:cNvPr id="31" name="Text 29"/>
          <p:cNvSpPr/>
          <p:nvPr/>
        </p:nvSpPr>
        <p:spPr>
          <a:xfrm>
            <a:off x="7132320" y="2889504"/>
            <a:ext cx="365760" cy="201168"/>
          </a:xfrm>
          <a:prstGeom prst="rect">
            <a:avLst/>
          </a:prstGeom>
          <a:noFill/>
          <a:ln/>
        </p:spPr>
        <p:txBody>
          <a:bodyPr wrap="square" rtlCol="0" anchor="ctr"/>
          <a:lstStyle/>
          <a:p>
            <a:pPr marL="0" indent="0" algn="ctr">
              <a:buNone/>
            </a:pPr>
            <a:r>
              <a:rPr lang="en-US" sz="900" dirty="0">
                <a:solidFill>
                  <a:srgbClr val="4A5568"/>
                </a:solidFill>
              </a:rPr>
              <a:t>▼</a:t>
            </a:r>
            <a:endParaRPr lang="en-US" sz="900" dirty="0"/>
          </a:p>
        </p:txBody>
      </p:sp>
      <p:sp>
        <p:nvSpPr>
          <p:cNvPr id="32" name="Shape 30"/>
          <p:cNvSpPr/>
          <p:nvPr/>
        </p:nvSpPr>
        <p:spPr>
          <a:xfrm>
            <a:off x="5852160" y="2999232"/>
            <a:ext cx="2926080" cy="365760"/>
          </a:xfrm>
          <a:prstGeom prst="rect">
            <a:avLst/>
          </a:prstGeom>
          <a:solidFill>
            <a:srgbClr val="18A97B"/>
          </a:solidFill>
          <a:ln w="12700">
            <a:solidFill>
              <a:srgbClr val="18A97B"/>
            </a:solidFill>
            <a:prstDash val="solid"/>
          </a:ln>
          <a:effectLst>
            <a:outerShdw blurRad="63500" dist="25400" dir="8100000" algn="bl" rotWithShape="0">
              <a:srgbClr val="000000">
                <a:alpha val="12000"/>
              </a:srgbClr>
            </a:outerShdw>
          </a:effectLst>
        </p:spPr>
      </p:sp>
      <p:sp>
        <p:nvSpPr>
          <p:cNvPr id="33" name="Text 31"/>
          <p:cNvSpPr/>
          <p:nvPr/>
        </p:nvSpPr>
        <p:spPr>
          <a:xfrm>
            <a:off x="5852160" y="3035808"/>
            <a:ext cx="292608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  Test</a:t>
            </a:r>
            <a:endParaRPr lang="en-US" sz="1200" dirty="0"/>
          </a:p>
        </p:txBody>
      </p:sp>
      <p:sp>
        <p:nvSpPr>
          <p:cNvPr id="34" name="Text 32"/>
          <p:cNvSpPr/>
          <p:nvPr/>
        </p:nvSpPr>
        <p:spPr>
          <a:xfrm>
            <a:off x="7132320" y="3364992"/>
            <a:ext cx="365760" cy="201168"/>
          </a:xfrm>
          <a:prstGeom prst="rect">
            <a:avLst/>
          </a:prstGeom>
          <a:noFill/>
          <a:ln/>
        </p:spPr>
        <p:txBody>
          <a:bodyPr wrap="square" rtlCol="0" anchor="ctr"/>
          <a:lstStyle/>
          <a:p>
            <a:pPr marL="0" indent="0" algn="ctr">
              <a:buNone/>
            </a:pPr>
            <a:r>
              <a:rPr lang="en-US" sz="900" dirty="0">
                <a:solidFill>
                  <a:srgbClr val="4A5568"/>
                </a:solidFill>
              </a:rPr>
              <a:t>▼</a:t>
            </a:r>
            <a:endParaRPr lang="en-US" sz="900" dirty="0"/>
          </a:p>
        </p:txBody>
      </p:sp>
      <p:sp>
        <p:nvSpPr>
          <p:cNvPr id="35" name="Shape 33"/>
          <p:cNvSpPr/>
          <p:nvPr/>
        </p:nvSpPr>
        <p:spPr>
          <a:xfrm>
            <a:off x="5852160" y="3474720"/>
            <a:ext cx="2926080" cy="365760"/>
          </a:xfrm>
          <a:prstGeom prst="rect">
            <a:avLst/>
          </a:prstGeom>
          <a:solidFill>
            <a:srgbClr val="0A7C5C"/>
          </a:solidFill>
          <a:ln w="12700">
            <a:solidFill>
              <a:srgbClr val="0A7C5C"/>
            </a:solidFill>
            <a:prstDash val="solid"/>
          </a:ln>
          <a:effectLst>
            <a:outerShdw blurRad="63500" dist="25400" dir="8100000" algn="bl" rotWithShape="0">
              <a:srgbClr val="000000">
                <a:alpha val="12000"/>
              </a:srgbClr>
            </a:outerShdw>
          </a:effectLst>
        </p:spPr>
      </p:sp>
      <p:sp>
        <p:nvSpPr>
          <p:cNvPr id="36" name="Text 34"/>
          <p:cNvSpPr/>
          <p:nvPr/>
        </p:nvSpPr>
        <p:spPr>
          <a:xfrm>
            <a:off x="5852160" y="3511296"/>
            <a:ext cx="292608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  Deploy</a:t>
            </a:r>
            <a:endParaRPr lang="en-US" sz="1200" dirty="0"/>
          </a:p>
        </p:txBody>
      </p:sp>
      <p:sp>
        <p:nvSpPr>
          <p:cNvPr id="37" name="Text 35"/>
          <p:cNvSpPr/>
          <p:nvPr/>
        </p:nvSpPr>
        <p:spPr>
          <a:xfrm>
            <a:off x="7132320" y="3840480"/>
            <a:ext cx="365760" cy="201168"/>
          </a:xfrm>
          <a:prstGeom prst="rect">
            <a:avLst/>
          </a:prstGeom>
          <a:noFill/>
          <a:ln/>
        </p:spPr>
        <p:txBody>
          <a:bodyPr wrap="square" rtlCol="0" anchor="ctr"/>
          <a:lstStyle/>
          <a:p>
            <a:pPr marL="0" indent="0" algn="ctr">
              <a:buNone/>
            </a:pPr>
            <a:r>
              <a:rPr lang="en-US" sz="900" dirty="0">
                <a:solidFill>
                  <a:srgbClr val="4A5568"/>
                </a:solidFill>
              </a:rPr>
              <a:t>▼</a:t>
            </a:r>
            <a:endParaRPr lang="en-US" sz="900" dirty="0"/>
          </a:p>
        </p:txBody>
      </p:sp>
      <p:sp>
        <p:nvSpPr>
          <p:cNvPr id="38" name="Shape 36"/>
          <p:cNvSpPr/>
          <p:nvPr/>
        </p:nvSpPr>
        <p:spPr>
          <a:xfrm>
            <a:off x="5852160" y="3950208"/>
            <a:ext cx="2926080" cy="365760"/>
          </a:xfrm>
          <a:prstGeom prst="rect">
            <a:avLst/>
          </a:prstGeom>
          <a:solidFill>
            <a:srgbClr val="18A97B"/>
          </a:solidFill>
          <a:ln w="12700">
            <a:solidFill>
              <a:srgbClr val="18A97B"/>
            </a:solidFill>
            <a:prstDash val="solid"/>
          </a:ln>
          <a:effectLst>
            <a:outerShdw blurRad="63500" dist="25400" dir="8100000" algn="bl" rotWithShape="0">
              <a:srgbClr val="000000">
                <a:alpha val="12000"/>
              </a:srgbClr>
            </a:outerShdw>
          </a:effectLst>
        </p:spPr>
      </p:sp>
      <p:sp>
        <p:nvSpPr>
          <p:cNvPr id="39" name="Text 37"/>
          <p:cNvSpPr/>
          <p:nvPr/>
        </p:nvSpPr>
        <p:spPr>
          <a:xfrm>
            <a:off x="5852160" y="3986784"/>
            <a:ext cx="292608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  Monitor</a:t>
            </a:r>
            <a:endParaRPr lang="en-US" sz="1200" dirty="0"/>
          </a:p>
        </p:txBody>
      </p:sp>
      <p:sp>
        <p:nvSpPr>
          <p:cNvPr id="40" name="Text 38"/>
          <p:cNvSpPr/>
          <p:nvPr/>
        </p:nvSpPr>
        <p:spPr>
          <a:xfrm>
            <a:off x="7132320" y="4315968"/>
            <a:ext cx="365760" cy="201168"/>
          </a:xfrm>
          <a:prstGeom prst="rect">
            <a:avLst/>
          </a:prstGeom>
          <a:noFill/>
          <a:ln/>
        </p:spPr>
        <p:txBody>
          <a:bodyPr wrap="square" rtlCol="0" anchor="ctr"/>
          <a:lstStyle/>
          <a:p>
            <a:pPr marL="0" indent="0" algn="ctr">
              <a:buNone/>
            </a:pPr>
            <a:r>
              <a:rPr lang="en-US" sz="900" dirty="0">
                <a:solidFill>
                  <a:srgbClr val="4A5568"/>
                </a:solidFill>
              </a:rPr>
              <a:t>▼</a:t>
            </a:r>
            <a:endParaRPr lang="en-US" sz="900" dirty="0"/>
          </a:p>
        </p:txBody>
      </p:sp>
      <p:sp>
        <p:nvSpPr>
          <p:cNvPr id="41" name="Shape 39"/>
          <p:cNvSpPr/>
          <p:nvPr/>
        </p:nvSpPr>
        <p:spPr>
          <a:xfrm>
            <a:off x="5852160" y="4425696"/>
            <a:ext cx="2926080" cy="365760"/>
          </a:xfrm>
          <a:prstGeom prst="rect">
            <a:avLst/>
          </a:prstGeom>
          <a:solidFill>
            <a:srgbClr val="0A7C5C"/>
          </a:solidFill>
          <a:ln w="12700">
            <a:solidFill>
              <a:srgbClr val="0A7C5C"/>
            </a:solidFill>
            <a:prstDash val="solid"/>
          </a:ln>
          <a:effectLst>
            <a:outerShdw blurRad="63500" dist="25400" dir="8100000" algn="bl" rotWithShape="0">
              <a:srgbClr val="000000">
                <a:alpha val="12000"/>
              </a:srgbClr>
            </a:outerShdw>
          </a:effectLst>
        </p:spPr>
      </p:sp>
      <p:sp>
        <p:nvSpPr>
          <p:cNvPr id="42" name="Text 40"/>
          <p:cNvSpPr/>
          <p:nvPr/>
        </p:nvSpPr>
        <p:spPr>
          <a:xfrm>
            <a:off x="5852160" y="4462272"/>
            <a:ext cx="292608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  Improve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E2E"/>
          </a:solidFill>
          <a:ln w="12700">
            <a:solidFill>
              <a:srgbClr val="0D2E2E"/>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Real-World Examples &amp; Use Cases</a:t>
            </a:r>
            <a:endParaRPr lang="en-US" sz="3000" dirty="0"/>
          </a:p>
        </p:txBody>
      </p:sp>
      <p:sp>
        <p:nvSpPr>
          <p:cNvPr id="4" name="Shape 2"/>
          <p:cNvSpPr/>
          <p:nvPr/>
        </p:nvSpPr>
        <p:spPr>
          <a:xfrm>
            <a:off x="274320" y="1188720"/>
            <a:ext cx="8595360" cy="1097280"/>
          </a:xfrm>
          <a:prstGeom prst="rect">
            <a:avLst/>
          </a:prstGeom>
          <a:solidFill>
            <a:srgbClr val="FFFFFF"/>
          </a:solidFill>
          <a:ln w="12700">
            <a:solidFill>
              <a:srgbClr val="18A97B"/>
            </a:solidFill>
            <a:prstDash val="solid"/>
          </a:ln>
          <a:effectLst>
            <a:outerShdw blurRad="63500" dist="25400" dir="8100000" algn="bl" rotWithShape="0">
              <a:srgbClr val="000000">
                <a:alpha val="12000"/>
              </a:srgbClr>
            </a:outerShdw>
          </a:effectLst>
        </p:spPr>
      </p:sp>
      <p:sp>
        <p:nvSpPr>
          <p:cNvPr id="5" name="Shape 3"/>
          <p:cNvSpPr/>
          <p:nvPr/>
        </p:nvSpPr>
        <p:spPr>
          <a:xfrm>
            <a:off x="274320" y="1188720"/>
            <a:ext cx="201168" cy="1097280"/>
          </a:xfrm>
          <a:prstGeom prst="rect">
            <a:avLst/>
          </a:prstGeom>
          <a:solidFill>
            <a:srgbClr val="0A7C5C"/>
          </a:solidFill>
          <a:ln w="12700">
            <a:solidFill>
              <a:srgbClr val="0A7C5C"/>
            </a:solidFill>
            <a:prstDash val="solid"/>
          </a:ln>
        </p:spPr>
      </p:sp>
      <p:sp>
        <p:nvSpPr>
          <p:cNvPr id="6" name="Shape 4"/>
          <p:cNvSpPr/>
          <p:nvPr/>
        </p:nvSpPr>
        <p:spPr>
          <a:xfrm>
            <a:off x="6858000" y="1280160"/>
            <a:ext cx="1737360" cy="320040"/>
          </a:xfrm>
          <a:prstGeom prst="rect">
            <a:avLst/>
          </a:prstGeom>
          <a:solidFill>
            <a:srgbClr val="F6A623"/>
          </a:solidFill>
          <a:ln w="12700">
            <a:solidFill>
              <a:srgbClr val="F6A623"/>
            </a:solidFill>
            <a:prstDash val="solid"/>
          </a:ln>
          <a:effectLst>
            <a:outerShdw blurRad="63500" dist="25400" dir="8100000" algn="bl" rotWithShape="0">
              <a:srgbClr val="000000">
                <a:alpha val="12000"/>
              </a:srgbClr>
            </a:outerShdw>
          </a:effectLst>
        </p:spPr>
      </p:sp>
      <p:sp>
        <p:nvSpPr>
          <p:cNvPr id="7" name="Text 5"/>
          <p:cNvSpPr/>
          <p:nvPr/>
        </p:nvSpPr>
        <p:spPr>
          <a:xfrm>
            <a:off x="6858000" y="1280160"/>
            <a:ext cx="1737360" cy="320040"/>
          </a:xfrm>
          <a:prstGeom prst="rect">
            <a:avLst/>
          </a:prstGeom>
          <a:noFill/>
          <a:ln/>
        </p:spPr>
        <p:txBody>
          <a:bodyPr wrap="square" rtlCol="0" anchor="ctr"/>
          <a:lstStyle/>
          <a:p>
            <a:pPr marL="0" indent="0" algn="ctr">
              <a:buNone/>
            </a:pPr>
            <a:r>
              <a:rPr lang="en-US" sz="1000" b="1" dirty="0">
                <a:solidFill>
                  <a:srgbClr val="0D2E2E"/>
                </a:solidFill>
                <a:latin typeface="Calibri" pitchFamily="34" charset="0"/>
                <a:ea typeface="Calibri" pitchFamily="34" charset="-122"/>
                <a:cs typeface="Calibri" pitchFamily="34" charset="-120"/>
              </a:rPr>
              <a:t>Origin</a:t>
            </a:r>
            <a:endParaRPr lang="en-US" sz="1000" dirty="0"/>
          </a:p>
        </p:txBody>
      </p:sp>
      <p:sp>
        <p:nvSpPr>
          <p:cNvPr id="8" name="Text 6"/>
          <p:cNvSpPr/>
          <p:nvPr/>
        </p:nvSpPr>
        <p:spPr>
          <a:xfrm>
            <a:off x="594360" y="1243584"/>
            <a:ext cx="6126480" cy="292608"/>
          </a:xfrm>
          <a:prstGeom prst="rect">
            <a:avLst/>
          </a:prstGeom>
          <a:noFill/>
          <a:ln/>
        </p:spPr>
        <p:txBody>
          <a:bodyPr wrap="square" rtlCol="0" anchor="ctr"/>
          <a:lstStyle/>
          <a:p>
            <a:pPr marL="0" indent="0">
              <a:buNone/>
            </a:pPr>
            <a:r>
              <a:rPr lang="en-US" sz="1400" b="1" dirty="0">
                <a:solidFill>
                  <a:srgbClr val="0A7C5C"/>
                </a:solidFill>
                <a:latin typeface="Georgia" pitchFamily="34" charset="0"/>
                <a:ea typeface="Georgia" pitchFamily="34" charset="-122"/>
                <a:cs typeface="Georgia" pitchFamily="34" charset="-120"/>
              </a:rPr>
              <a:t>Toyota Production System</a:t>
            </a:r>
            <a:endParaRPr lang="en-US" sz="1400" dirty="0"/>
          </a:p>
        </p:txBody>
      </p:sp>
      <p:sp>
        <p:nvSpPr>
          <p:cNvPr id="9" name="Text 7"/>
          <p:cNvSpPr/>
          <p:nvPr/>
        </p:nvSpPr>
        <p:spPr>
          <a:xfrm>
            <a:off x="594360" y="1572768"/>
            <a:ext cx="7772400" cy="41148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Workers on the assembly line are empowered to pull the Andon cord and stop production the moment they spot a defect. The issue is fixed immediately — preventing hundreds of faulty units downstream.</a:t>
            </a:r>
            <a:endParaRPr lang="en-US" sz="1050" dirty="0"/>
          </a:p>
        </p:txBody>
      </p:sp>
      <p:sp>
        <p:nvSpPr>
          <p:cNvPr id="10" name="Text 8"/>
          <p:cNvSpPr/>
          <p:nvPr/>
        </p:nvSpPr>
        <p:spPr>
          <a:xfrm>
            <a:off x="594360" y="1984248"/>
            <a:ext cx="7772400" cy="256032"/>
          </a:xfrm>
          <a:prstGeom prst="rect">
            <a:avLst/>
          </a:prstGeom>
          <a:noFill/>
          <a:ln/>
        </p:spPr>
        <p:txBody>
          <a:bodyPr wrap="square" rtlCol="0" anchor="ctr"/>
          <a:lstStyle/>
          <a:p>
            <a:pPr marL="0" indent="0">
              <a:buNone/>
            </a:pPr>
            <a:r>
              <a:rPr lang="en-US" sz="1050" b="1" dirty="0">
                <a:solidFill>
                  <a:srgbClr val="0A7C5C"/>
                </a:solidFill>
                <a:latin typeface="Calibri" pitchFamily="34" charset="0"/>
                <a:ea typeface="Calibri" pitchFamily="34" charset="-122"/>
                <a:cs typeface="Calibri" pitchFamily="34" charset="-120"/>
              </a:rPr>
              <a:t>📈  Defect rates dropped by over 80% within a decade.</a:t>
            </a:r>
            <a:endParaRPr lang="en-US" sz="1050" dirty="0"/>
          </a:p>
        </p:txBody>
      </p:sp>
      <p:sp>
        <p:nvSpPr>
          <p:cNvPr id="11" name="Shape 9"/>
          <p:cNvSpPr/>
          <p:nvPr/>
        </p:nvSpPr>
        <p:spPr>
          <a:xfrm>
            <a:off x="274320" y="2450592"/>
            <a:ext cx="8595360" cy="1097280"/>
          </a:xfrm>
          <a:prstGeom prst="rect">
            <a:avLst/>
          </a:prstGeom>
          <a:solidFill>
            <a:srgbClr val="FFFFFF"/>
          </a:solidFill>
          <a:ln w="12700">
            <a:solidFill>
              <a:srgbClr val="18A97B"/>
            </a:solidFill>
            <a:prstDash val="solid"/>
          </a:ln>
          <a:effectLst>
            <a:outerShdw blurRad="63500" dist="25400" dir="8100000" algn="bl" rotWithShape="0">
              <a:srgbClr val="000000">
                <a:alpha val="12000"/>
              </a:srgbClr>
            </a:outerShdw>
          </a:effectLst>
        </p:spPr>
      </p:sp>
      <p:sp>
        <p:nvSpPr>
          <p:cNvPr id="12" name="Shape 10"/>
          <p:cNvSpPr/>
          <p:nvPr/>
        </p:nvSpPr>
        <p:spPr>
          <a:xfrm>
            <a:off x="274320" y="2450592"/>
            <a:ext cx="201168" cy="1097280"/>
          </a:xfrm>
          <a:prstGeom prst="rect">
            <a:avLst/>
          </a:prstGeom>
          <a:solidFill>
            <a:srgbClr val="0A7C5C"/>
          </a:solidFill>
          <a:ln w="12700">
            <a:solidFill>
              <a:srgbClr val="0A7C5C"/>
            </a:solidFill>
            <a:prstDash val="solid"/>
          </a:ln>
        </p:spPr>
      </p:sp>
      <p:sp>
        <p:nvSpPr>
          <p:cNvPr id="13" name="Shape 11"/>
          <p:cNvSpPr/>
          <p:nvPr/>
        </p:nvSpPr>
        <p:spPr>
          <a:xfrm>
            <a:off x="6858000" y="2542032"/>
            <a:ext cx="1737360" cy="320040"/>
          </a:xfrm>
          <a:prstGeom prst="rect">
            <a:avLst/>
          </a:prstGeom>
          <a:solidFill>
            <a:srgbClr val="F6A623"/>
          </a:solidFill>
          <a:ln w="12700">
            <a:solidFill>
              <a:srgbClr val="F6A623"/>
            </a:solidFill>
            <a:prstDash val="solid"/>
          </a:ln>
          <a:effectLst>
            <a:outerShdw blurRad="63500" dist="25400" dir="8100000" algn="bl" rotWithShape="0">
              <a:srgbClr val="000000">
                <a:alpha val="12000"/>
              </a:srgbClr>
            </a:outerShdw>
          </a:effectLst>
        </p:spPr>
      </p:sp>
      <p:sp>
        <p:nvSpPr>
          <p:cNvPr id="14" name="Text 12"/>
          <p:cNvSpPr/>
          <p:nvPr/>
        </p:nvSpPr>
        <p:spPr>
          <a:xfrm>
            <a:off x="6858000" y="2542032"/>
            <a:ext cx="1737360" cy="320040"/>
          </a:xfrm>
          <a:prstGeom prst="rect">
            <a:avLst/>
          </a:prstGeom>
          <a:noFill/>
          <a:ln/>
        </p:spPr>
        <p:txBody>
          <a:bodyPr wrap="square" rtlCol="0" anchor="ctr"/>
          <a:lstStyle/>
          <a:p>
            <a:pPr marL="0" indent="0" algn="ctr">
              <a:buNone/>
            </a:pPr>
            <a:r>
              <a:rPr lang="en-US" sz="1000" b="1" dirty="0">
                <a:solidFill>
                  <a:srgbClr val="0D2E2E"/>
                </a:solidFill>
                <a:latin typeface="Calibri" pitchFamily="34" charset="0"/>
                <a:ea typeface="Calibri" pitchFamily="34" charset="-122"/>
                <a:cs typeface="Calibri" pitchFamily="34" charset="-120"/>
              </a:rPr>
              <a:t>Tech Giant</a:t>
            </a:r>
            <a:endParaRPr lang="en-US" sz="1000" dirty="0"/>
          </a:p>
        </p:txBody>
      </p:sp>
      <p:sp>
        <p:nvSpPr>
          <p:cNvPr id="15" name="Text 13"/>
          <p:cNvSpPr/>
          <p:nvPr/>
        </p:nvSpPr>
        <p:spPr>
          <a:xfrm>
            <a:off x="594360" y="2505456"/>
            <a:ext cx="6126480" cy="292608"/>
          </a:xfrm>
          <a:prstGeom prst="rect">
            <a:avLst/>
          </a:prstGeom>
          <a:noFill/>
          <a:ln/>
        </p:spPr>
        <p:txBody>
          <a:bodyPr wrap="square" rtlCol="0" anchor="ctr"/>
          <a:lstStyle/>
          <a:p>
            <a:pPr marL="0" indent="0">
              <a:buNone/>
            </a:pPr>
            <a:r>
              <a:rPr lang="en-US" sz="1400" b="1" dirty="0">
                <a:solidFill>
                  <a:srgbClr val="0A7C5C"/>
                </a:solidFill>
                <a:latin typeface="Georgia" pitchFamily="34" charset="0"/>
                <a:ea typeface="Georgia" pitchFamily="34" charset="-122"/>
                <a:cs typeface="Georgia" pitchFamily="34" charset="-120"/>
              </a:rPr>
              <a:t>Amazon / AWS</a:t>
            </a:r>
            <a:endParaRPr lang="en-US" sz="1400" dirty="0"/>
          </a:p>
        </p:txBody>
      </p:sp>
      <p:sp>
        <p:nvSpPr>
          <p:cNvPr id="16" name="Text 14"/>
          <p:cNvSpPr/>
          <p:nvPr/>
        </p:nvSpPr>
        <p:spPr>
          <a:xfrm>
            <a:off x="594360" y="2834640"/>
            <a:ext cx="7772400" cy="41148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Amazon deploys code every 11.6 seconds on average. Each team runs retrospectives to cut deployment friction, reduce failure rates, and automate previously manual steps — Kaizen in action.</a:t>
            </a:r>
            <a:endParaRPr lang="en-US" sz="1050" dirty="0"/>
          </a:p>
        </p:txBody>
      </p:sp>
      <p:sp>
        <p:nvSpPr>
          <p:cNvPr id="17" name="Text 15"/>
          <p:cNvSpPr/>
          <p:nvPr/>
        </p:nvSpPr>
        <p:spPr>
          <a:xfrm>
            <a:off x="594360" y="3246120"/>
            <a:ext cx="7772400" cy="256032"/>
          </a:xfrm>
          <a:prstGeom prst="rect">
            <a:avLst/>
          </a:prstGeom>
          <a:noFill/>
          <a:ln/>
        </p:spPr>
        <p:txBody>
          <a:bodyPr wrap="square" rtlCol="0" anchor="ctr"/>
          <a:lstStyle/>
          <a:p>
            <a:pPr marL="0" indent="0">
              <a:buNone/>
            </a:pPr>
            <a:r>
              <a:rPr lang="en-US" sz="1050" b="1" dirty="0">
                <a:solidFill>
                  <a:srgbClr val="0A7C5C"/>
                </a:solidFill>
                <a:latin typeface="Calibri" pitchFamily="34" charset="0"/>
                <a:ea typeface="Calibri" pitchFamily="34" charset="-122"/>
                <a:cs typeface="Calibri" pitchFamily="34" charset="-120"/>
              </a:rPr>
              <a:t>📈  99.99% uptime SLAs on core AWS services.</a:t>
            </a:r>
            <a:endParaRPr lang="en-US" sz="1050" dirty="0"/>
          </a:p>
        </p:txBody>
      </p:sp>
      <p:sp>
        <p:nvSpPr>
          <p:cNvPr id="18" name="Shape 16"/>
          <p:cNvSpPr/>
          <p:nvPr/>
        </p:nvSpPr>
        <p:spPr>
          <a:xfrm>
            <a:off x="274320" y="3712464"/>
            <a:ext cx="8595360" cy="1097280"/>
          </a:xfrm>
          <a:prstGeom prst="rect">
            <a:avLst/>
          </a:prstGeom>
          <a:solidFill>
            <a:srgbClr val="FFFFFF"/>
          </a:solidFill>
          <a:ln w="12700">
            <a:solidFill>
              <a:srgbClr val="18A97B"/>
            </a:solidFill>
            <a:prstDash val="solid"/>
          </a:ln>
          <a:effectLst>
            <a:outerShdw blurRad="63500" dist="25400" dir="8100000" algn="bl" rotWithShape="0">
              <a:srgbClr val="000000">
                <a:alpha val="12000"/>
              </a:srgbClr>
            </a:outerShdw>
          </a:effectLst>
        </p:spPr>
      </p:sp>
      <p:sp>
        <p:nvSpPr>
          <p:cNvPr id="19" name="Shape 17"/>
          <p:cNvSpPr/>
          <p:nvPr/>
        </p:nvSpPr>
        <p:spPr>
          <a:xfrm>
            <a:off x="274320" y="3712464"/>
            <a:ext cx="201168" cy="1097280"/>
          </a:xfrm>
          <a:prstGeom prst="rect">
            <a:avLst/>
          </a:prstGeom>
          <a:solidFill>
            <a:srgbClr val="0A7C5C"/>
          </a:solidFill>
          <a:ln w="12700">
            <a:solidFill>
              <a:srgbClr val="0A7C5C"/>
            </a:solidFill>
            <a:prstDash val="solid"/>
          </a:ln>
        </p:spPr>
      </p:sp>
      <p:sp>
        <p:nvSpPr>
          <p:cNvPr id="20" name="Shape 18"/>
          <p:cNvSpPr/>
          <p:nvPr/>
        </p:nvSpPr>
        <p:spPr>
          <a:xfrm>
            <a:off x="6858000" y="3803904"/>
            <a:ext cx="1737360" cy="320040"/>
          </a:xfrm>
          <a:prstGeom prst="rect">
            <a:avLst/>
          </a:prstGeom>
          <a:solidFill>
            <a:srgbClr val="F6A623"/>
          </a:solidFill>
          <a:ln w="12700">
            <a:solidFill>
              <a:srgbClr val="F6A623"/>
            </a:solidFill>
            <a:prstDash val="solid"/>
          </a:ln>
          <a:effectLst>
            <a:outerShdw blurRad="63500" dist="25400" dir="8100000" algn="bl" rotWithShape="0">
              <a:srgbClr val="000000">
                <a:alpha val="12000"/>
              </a:srgbClr>
            </a:outerShdw>
          </a:effectLst>
        </p:spPr>
      </p:sp>
      <p:sp>
        <p:nvSpPr>
          <p:cNvPr id="21" name="Text 19"/>
          <p:cNvSpPr/>
          <p:nvPr/>
        </p:nvSpPr>
        <p:spPr>
          <a:xfrm>
            <a:off x="6858000" y="3803904"/>
            <a:ext cx="1737360" cy="320040"/>
          </a:xfrm>
          <a:prstGeom prst="rect">
            <a:avLst/>
          </a:prstGeom>
          <a:noFill/>
          <a:ln/>
        </p:spPr>
        <p:txBody>
          <a:bodyPr wrap="square" rtlCol="0" anchor="ctr"/>
          <a:lstStyle/>
          <a:p>
            <a:pPr marL="0" indent="0" algn="ctr">
              <a:buNone/>
            </a:pPr>
            <a:r>
              <a:rPr lang="en-US" sz="1000" b="1" dirty="0">
                <a:solidFill>
                  <a:srgbClr val="0D2E2E"/>
                </a:solidFill>
                <a:latin typeface="Calibri" pitchFamily="34" charset="0"/>
                <a:ea typeface="Calibri" pitchFamily="34" charset="-122"/>
                <a:cs typeface="Calibri" pitchFamily="34" charset="-120"/>
              </a:rPr>
              <a:t>Agile DevOps</a:t>
            </a:r>
            <a:endParaRPr lang="en-US" sz="1000" dirty="0"/>
          </a:p>
        </p:txBody>
      </p:sp>
      <p:sp>
        <p:nvSpPr>
          <p:cNvPr id="22" name="Text 20"/>
          <p:cNvSpPr/>
          <p:nvPr/>
        </p:nvSpPr>
        <p:spPr>
          <a:xfrm>
            <a:off x="594360" y="3767328"/>
            <a:ext cx="6126480" cy="292608"/>
          </a:xfrm>
          <a:prstGeom prst="rect">
            <a:avLst/>
          </a:prstGeom>
          <a:noFill/>
          <a:ln/>
        </p:spPr>
        <p:txBody>
          <a:bodyPr wrap="square" rtlCol="0" anchor="ctr"/>
          <a:lstStyle/>
          <a:p>
            <a:pPr marL="0" indent="0">
              <a:buNone/>
            </a:pPr>
            <a:r>
              <a:rPr lang="en-US" sz="1400" b="1" dirty="0">
                <a:solidFill>
                  <a:srgbClr val="0A7C5C"/>
                </a:solidFill>
                <a:latin typeface="Georgia" pitchFamily="34" charset="0"/>
                <a:ea typeface="Georgia" pitchFamily="34" charset="-122"/>
                <a:cs typeface="Georgia" pitchFamily="34" charset="-120"/>
              </a:rPr>
              <a:t>Spotify (Squad Model)</a:t>
            </a:r>
            <a:endParaRPr lang="en-US" sz="1400" dirty="0"/>
          </a:p>
        </p:txBody>
      </p:sp>
      <p:sp>
        <p:nvSpPr>
          <p:cNvPr id="23" name="Text 21"/>
          <p:cNvSpPr/>
          <p:nvPr/>
        </p:nvSpPr>
        <p:spPr>
          <a:xfrm>
            <a:off x="594360" y="4096512"/>
            <a:ext cx="7772400" cy="41148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Squads hold regular 'health check' retrospectives where they rate their own processes and pick one improvement area each sprint. Over time, small tweaks compounded into massive cultural shifts.</a:t>
            </a:r>
            <a:endParaRPr lang="en-US" sz="1050" dirty="0"/>
          </a:p>
        </p:txBody>
      </p:sp>
      <p:sp>
        <p:nvSpPr>
          <p:cNvPr id="24" name="Text 22"/>
          <p:cNvSpPr/>
          <p:nvPr/>
        </p:nvSpPr>
        <p:spPr>
          <a:xfrm>
            <a:off x="594360" y="4507992"/>
            <a:ext cx="7772400" cy="256032"/>
          </a:xfrm>
          <a:prstGeom prst="rect">
            <a:avLst/>
          </a:prstGeom>
          <a:noFill/>
          <a:ln/>
        </p:spPr>
        <p:txBody>
          <a:bodyPr wrap="square" rtlCol="0" anchor="ctr"/>
          <a:lstStyle/>
          <a:p>
            <a:pPr marL="0" indent="0">
              <a:buNone/>
            </a:pPr>
            <a:r>
              <a:rPr lang="en-US" sz="1050" b="1" dirty="0">
                <a:solidFill>
                  <a:srgbClr val="0A7C5C"/>
                </a:solidFill>
                <a:latin typeface="Calibri" pitchFamily="34" charset="0"/>
                <a:ea typeface="Calibri" pitchFamily="34" charset="-122"/>
                <a:cs typeface="Calibri" pitchFamily="34" charset="-120"/>
              </a:rPr>
              <a:t>📈  High autonomy, fast releases, low burnout.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E2E"/>
          </a:solidFill>
          <a:ln w="12700">
            <a:solidFill>
              <a:srgbClr val="0D2E2E"/>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Benefits &amp; Challenges</a:t>
            </a:r>
            <a:endParaRPr lang="en-US" sz="3200" dirty="0"/>
          </a:p>
        </p:txBody>
      </p:sp>
      <p:sp>
        <p:nvSpPr>
          <p:cNvPr id="4" name="Shape 2"/>
          <p:cNvSpPr/>
          <p:nvPr/>
        </p:nvSpPr>
        <p:spPr>
          <a:xfrm>
            <a:off x="274320" y="1097280"/>
            <a:ext cx="4023360" cy="411480"/>
          </a:xfrm>
          <a:prstGeom prst="rect">
            <a:avLst/>
          </a:prstGeom>
          <a:solidFill>
            <a:srgbClr val="0A7C5C"/>
          </a:solidFill>
          <a:ln w="12700">
            <a:solidFill>
              <a:srgbClr val="0A7C5C"/>
            </a:solidFill>
            <a:prstDash val="solid"/>
          </a:ln>
        </p:spPr>
      </p:sp>
      <p:sp>
        <p:nvSpPr>
          <p:cNvPr id="5" name="Text 3"/>
          <p:cNvSpPr/>
          <p:nvPr/>
        </p:nvSpPr>
        <p:spPr>
          <a:xfrm>
            <a:off x="365760" y="1115568"/>
            <a:ext cx="38404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Benefits</a:t>
            </a:r>
            <a:endParaRPr lang="en-US" sz="1400" dirty="0"/>
          </a:p>
        </p:txBody>
      </p:sp>
      <p:sp>
        <p:nvSpPr>
          <p:cNvPr id="6" name="Text 4"/>
          <p:cNvSpPr/>
          <p:nvPr/>
        </p:nvSpPr>
        <p:spPr>
          <a:xfrm>
            <a:off x="365760" y="1600200"/>
            <a:ext cx="3840480" cy="3200400"/>
          </a:xfrm>
          <a:prstGeom prst="rect">
            <a:avLst/>
          </a:prstGeom>
          <a:noFill/>
          <a:ln/>
        </p:spPr>
        <p:txBody>
          <a:bodyPr wrap="square" rtlCol="0" anchor="ctr"/>
          <a:lstStyle/>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Builds a culture of ownership and engagement</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Reduces technical debt incrementally</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Faster detection and resolution of issues</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Reduces risk through small, testable changes</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Improves team morale and psychological safety</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Compounds over time — huge gains from small steps</a:t>
            </a:r>
            <a:endParaRPr lang="en-US" sz="1200" dirty="0"/>
          </a:p>
        </p:txBody>
      </p:sp>
      <p:sp>
        <p:nvSpPr>
          <p:cNvPr id="7" name="Shape 5"/>
          <p:cNvSpPr/>
          <p:nvPr/>
        </p:nvSpPr>
        <p:spPr>
          <a:xfrm>
            <a:off x="4846320" y="1097280"/>
            <a:ext cx="4023360" cy="411480"/>
          </a:xfrm>
          <a:prstGeom prst="rect">
            <a:avLst/>
          </a:prstGeom>
          <a:solidFill>
            <a:srgbClr val="C0392B"/>
          </a:solidFill>
          <a:ln w="12700">
            <a:solidFill>
              <a:srgbClr val="C0392B"/>
            </a:solidFill>
            <a:prstDash val="solid"/>
          </a:ln>
        </p:spPr>
      </p:sp>
      <p:sp>
        <p:nvSpPr>
          <p:cNvPr id="8" name="Text 6"/>
          <p:cNvSpPr/>
          <p:nvPr/>
        </p:nvSpPr>
        <p:spPr>
          <a:xfrm>
            <a:off x="4937760" y="1115568"/>
            <a:ext cx="38404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Challenges</a:t>
            </a:r>
            <a:endParaRPr lang="en-US" sz="1400" dirty="0"/>
          </a:p>
        </p:txBody>
      </p:sp>
      <p:sp>
        <p:nvSpPr>
          <p:cNvPr id="9" name="Text 7"/>
          <p:cNvSpPr/>
          <p:nvPr/>
        </p:nvSpPr>
        <p:spPr>
          <a:xfrm>
            <a:off x="4937760" y="1600200"/>
            <a:ext cx="3840480" cy="3200400"/>
          </a:xfrm>
          <a:prstGeom prst="rect">
            <a:avLst/>
          </a:prstGeom>
          <a:noFill/>
          <a:ln/>
        </p:spPr>
        <p:txBody>
          <a:bodyPr wrap="square" rtlCol="0" anchor="ctr"/>
          <a:lstStyle/>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Requires sustained leadership commitment</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Results are gradual — not immediately visible</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Cultural resistance in teams used to waterfall</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Risk of 'improvement fatigue' without proper pacing</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Hard to measure ROI of incremental changes</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Needs psychological safety to allow open feedback</a:t>
            </a:r>
            <a:endParaRPr lang="en-US" sz="1200" dirty="0"/>
          </a:p>
        </p:txBody>
      </p:sp>
      <p:sp>
        <p:nvSpPr>
          <p:cNvPr id="10" name="Shape 8"/>
          <p:cNvSpPr/>
          <p:nvPr/>
        </p:nvSpPr>
        <p:spPr>
          <a:xfrm>
            <a:off x="4617720" y="1097280"/>
            <a:ext cx="36576" cy="3657600"/>
          </a:xfrm>
          <a:prstGeom prst="rect">
            <a:avLst/>
          </a:prstGeom>
          <a:solidFill>
            <a:srgbClr val="CBD5E0"/>
          </a:solidFill>
          <a:ln w="12700">
            <a:solidFill>
              <a:srgbClr val="CBD5E0"/>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E2E"/>
          </a:solidFill>
          <a:ln w="12700">
            <a:solidFill>
              <a:srgbClr val="0D2E2E"/>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Prepared Q&amp;A</a:t>
            </a:r>
            <a:endParaRPr lang="en-US" sz="3200" dirty="0"/>
          </a:p>
        </p:txBody>
      </p:sp>
      <p:sp>
        <p:nvSpPr>
          <p:cNvPr id="4" name="Shape 2"/>
          <p:cNvSpPr/>
          <p:nvPr/>
        </p:nvSpPr>
        <p:spPr>
          <a:xfrm>
            <a:off x="274320" y="1170432"/>
            <a:ext cx="8595360" cy="868680"/>
          </a:xfrm>
          <a:prstGeom prst="rect">
            <a:avLst/>
          </a:prstGeom>
          <a:solidFill>
            <a:srgbClr val="E8F7F2"/>
          </a:solidFill>
          <a:ln w="12700">
            <a:solidFill>
              <a:srgbClr val="18A97B"/>
            </a:solidFill>
            <a:prstDash val="solid"/>
          </a:ln>
          <a:effectLst>
            <a:outerShdw blurRad="63500" dist="25400" dir="8100000" algn="bl" rotWithShape="0">
              <a:srgbClr val="000000">
                <a:alpha val="12000"/>
              </a:srgbClr>
            </a:outerShdw>
          </a:effectLst>
        </p:spPr>
      </p:sp>
      <p:sp>
        <p:nvSpPr>
          <p:cNvPr id="5" name="Text 3"/>
          <p:cNvSpPr/>
          <p:nvPr/>
        </p:nvSpPr>
        <p:spPr>
          <a:xfrm>
            <a:off x="457200" y="1216152"/>
            <a:ext cx="8229600" cy="274320"/>
          </a:xfrm>
          <a:prstGeom prst="rect">
            <a:avLst/>
          </a:prstGeom>
          <a:noFill/>
          <a:ln/>
        </p:spPr>
        <p:txBody>
          <a:bodyPr wrap="square" rtlCol="0" anchor="ctr"/>
          <a:lstStyle/>
          <a:p>
            <a:pPr marL="0" indent="0">
              <a:buNone/>
            </a:pPr>
            <a:r>
              <a:rPr lang="en-US" sz="1200" b="1" dirty="0">
                <a:solidFill>
                  <a:srgbClr val="0A7C5C"/>
                </a:solidFill>
                <a:latin typeface="Calibri" pitchFamily="34" charset="0"/>
                <a:ea typeface="Calibri" pitchFamily="34" charset="-122"/>
                <a:cs typeface="Calibri" pitchFamily="34" charset="-120"/>
              </a:rPr>
              <a:t>Q1. What is the difference between Kaizen and Agile?</a:t>
            </a:r>
            <a:endParaRPr lang="en-US" sz="1200" dirty="0"/>
          </a:p>
        </p:txBody>
      </p:sp>
      <p:sp>
        <p:nvSpPr>
          <p:cNvPr id="6" name="Text 4"/>
          <p:cNvSpPr/>
          <p:nvPr/>
        </p:nvSpPr>
        <p:spPr>
          <a:xfrm>
            <a:off x="457200" y="1517904"/>
            <a:ext cx="8229600" cy="47548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Kaizen is a mindset/philosophy of continuous incremental improvement originating from manufacturing. Agile is a software development framework with time-boxed iterations. Agile borrows heavily from Kaizen — retrospectives, incremental delivery, and feedback loops are direct applications of Kaizen thinking.</a:t>
            </a:r>
            <a:endParaRPr lang="en-US" sz="1050" dirty="0"/>
          </a:p>
        </p:txBody>
      </p:sp>
      <p:sp>
        <p:nvSpPr>
          <p:cNvPr id="7" name="Shape 5"/>
          <p:cNvSpPr/>
          <p:nvPr/>
        </p:nvSpPr>
        <p:spPr>
          <a:xfrm>
            <a:off x="274320" y="2139696"/>
            <a:ext cx="8595360" cy="868680"/>
          </a:xfrm>
          <a:prstGeom prst="rect">
            <a:avLst/>
          </a:prstGeom>
          <a:solidFill>
            <a:srgbClr val="FFFFFF"/>
          </a:solidFill>
          <a:ln w="12700">
            <a:solidFill>
              <a:srgbClr val="18A97B"/>
            </a:solidFill>
            <a:prstDash val="solid"/>
          </a:ln>
          <a:effectLst>
            <a:outerShdw blurRad="63500" dist="25400" dir="8100000" algn="bl" rotWithShape="0">
              <a:srgbClr val="000000">
                <a:alpha val="12000"/>
              </a:srgbClr>
            </a:outerShdw>
          </a:effectLst>
        </p:spPr>
      </p:sp>
      <p:sp>
        <p:nvSpPr>
          <p:cNvPr id="8" name="Text 6"/>
          <p:cNvSpPr/>
          <p:nvPr/>
        </p:nvSpPr>
        <p:spPr>
          <a:xfrm>
            <a:off x="457200" y="2185416"/>
            <a:ext cx="8229600" cy="274320"/>
          </a:xfrm>
          <a:prstGeom prst="rect">
            <a:avLst/>
          </a:prstGeom>
          <a:noFill/>
          <a:ln/>
        </p:spPr>
        <p:txBody>
          <a:bodyPr wrap="square" rtlCol="0" anchor="ctr"/>
          <a:lstStyle/>
          <a:p>
            <a:pPr marL="0" indent="0">
              <a:buNone/>
            </a:pPr>
            <a:r>
              <a:rPr lang="en-US" sz="1200" b="1" dirty="0">
                <a:solidFill>
                  <a:srgbClr val="0A7C5C"/>
                </a:solidFill>
                <a:latin typeface="Calibri" pitchFamily="34" charset="0"/>
                <a:ea typeface="Calibri" pitchFamily="34" charset="-122"/>
                <a:cs typeface="Calibri" pitchFamily="34" charset="-120"/>
              </a:rPr>
              <a:t>Q2. How does Kaizen reduce waste in software teams?</a:t>
            </a:r>
            <a:endParaRPr lang="en-US" sz="1200" dirty="0"/>
          </a:p>
        </p:txBody>
      </p:sp>
      <p:sp>
        <p:nvSpPr>
          <p:cNvPr id="9" name="Text 7"/>
          <p:cNvSpPr/>
          <p:nvPr/>
        </p:nvSpPr>
        <p:spPr>
          <a:xfrm>
            <a:off x="457200" y="2487168"/>
            <a:ext cx="8229600" cy="47548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By regularly identifying 'Muda' (waste) — such as long PR review queues, manual deployments, unnecessary meetings, or redundant testing. Tools like value stream mapping are used to visualize and eliminate bottlenecks.</a:t>
            </a:r>
            <a:endParaRPr lang="en-US" sz="1050" dirty="0"/>
          </a:p>
        </p:txBody>
      </p:sp>
      <p:sp>
        <p:nvSpPr>
          <p:cNvPr id="10" name="Shape 8"/>
          <p:cNvSpPr/>
          <p:nvPr/>
        </p:nvSpPr>
        <p:spPr>
          <a:xfrm>
            <a:off x="274320" y="3108960"/>
            <a:ext cx="8595360" cy="868680"/>
          </a:xfrm>
          <a:prstGeom prst="rect">
            <a:avLst/>
          </a:prstGeom>
          <a:solidFill>
            <a:srgbClr val="E8F7F2"/>
          </a:solidFill>
          <a:ln w="12700">
            <a:solidFill>
              <a:srgbClr val="18A97B"/>
            </a:solidFill>
            <a:prstDash val="solid"/>
          </a:ln>
          <a:effectLst>
            <a:outerShdw blurRad="63500" dist="25400" dir="8100000" algn="bl" rotWithShape="0">
              <a:srgbClr val="000000">
                <a:alpha val="12000"/>
              </a:srgbClr>
            </a:outerShdw>
          </a:effectLst>
        </p:spPr>
      </p:sp>
      <p:sp>
        <p:nvSpPr>
          <p:cNvPr id="11" name="Text 9"/>
          <p:cNvSpPr/>
          <p:nvPr/>
        </p:nvSpPr>
        <p:spPr>
          <a:xfrm>
            <a:off x="457200" y="3154680"/>
            <a:ext cx="8229600" cy="274320"/>
          </a:xfrm>
          <a:prstGeom prst="rect">
            <a:avLst/>
          </a:prstGeom>
          <a:noFill/>
          <a:ln/>
        </p:spPr>
        <p:txBody>
          <a:bodyPr wrap="square" rtlCol="0" anchor="ctr"/>
          <a:lstStyle/>
          <a:p>
            <a:pPr marL="0" indent="0">
              <a:buNone/>
            </a:pPr>
            <a:r>
              <a:rPr lang="en-US" sz="1200" b="1" dirty="0">
                <a:solidFill>
                  <a:srgbClr val="0A7C5C"/>
                </a:solidFill>
                <a:latin typeface="Calibri" pitchFamily="34" charset="0"/>
                <a:ea typeface="Calibri" pitchFamily="34" charset="-122"/>
                <a:cs typeface="Calibri" pitchFamily="34" charset="-120"/>
              </a:rPr>
              <a:t>Q3. Can Kaizen be applied to CI/CD pipelines?</a:t>
            </a:r>
            <a:endParaRPr lang="en-US" sz="1200" dirty="0"/>
          </a:p>
        </p:txBody>
      </p:sp>
      <p:sp>
        <p:nvSpPr>
          <p:cNvPr id="12" name="Text 10"/>
          <p:cNvSpPr/>
          <p:nvPr/>
        </p:nvSpPr>
        <p:spPr>
          <a:xfrm>
            <a:off x="457200" y="3456432"/>
            <a:ext cx="8229600" cy="47548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Yes. Teams measure pipeline metrics (build time, failure rate, deployment frequency), run retrospectives, and iteratively automate or optimize slow stages. Over time, pipeline health improves continuously without requiring a complete redesign.</a:t>
            </a:r>
            <a:endParaRPr lang="en-US" sz="1050" dirty="0"/>
          </a:p>
        </p:txBody>
      </p:sp>
      <p:sp>
        <p:nvSpPr>
          <p:cNvPr id="13" name="Shape 11"/>
          <p:cNvSpPr/>
          <p:nvPr/>
        </p:nvSpPr>
        <p:spPr>
          <a:xfrm>
            <a:off x="274320" y="4078224"/>
            <a:ext cx="8595360" cy="868680"/>
          </a:xfrm>
          <a:prstGeom prst="rect">
            <a:avLst/>
          </a:prstGeom>
          <a:solidFill>
            <a:srgbClr val="FFFFFF"/>
          </a:solidFill>
          <a:ln w="12700">
            <a:solidFill>
              <a:srgbClr val="18A97B"/>
            </a:solidFill>
            <a:prstDash val="solid"/>
          </a:ln>
          <a:effectLst>
            <a:outerShdw blurRad="63500" dist="25400" dir="8100000" algn="bl" rotWithShape="0">
              <a:srgbClr val="000000">
                <a:alpha val="12000"/>
              </a:srgbClr>
            </a:outerShdw>
          </a:effectLst>
        </p:spPr>
      </p:sp>
      <p:sp>
        <p:nvSpPr>
          <p:cNvPr id="14" name="Text 12"/>
          <p:cNvSpPr/>
          <p:nvPr/>
        </p:nvSpPr>
        <p:spPr>
          <a:xfrm>
            <a:off x="457200" y="4123944"/>
            <a:ext cx="8229600" cy="274320"/>
          </a:xfrm>
          <a:prstGeom prst="rect">
            <a:avLst/>
          </a:prstGeom>
          <a:noFill/>
          <a:ln/>
        </p:spPr>
        <p:txBody>
          <a:bodyPr wrap="square" rtlCol="0" anchor="ctr"/>
          <a:lstStyle/>
          <a:p>
            <a:pPr marL="0" indent="0">
              <a:buNone/>
            </a:pPr>
            <a:r>
              <a:rPr lang="en-US" sz="1200" b="1" dirty="0">
                <a:solidFill>
                  <a:srgbClr val="0A7C5C"/>
                </a:solidFill>
                <a:latin typeface="Calibri" pitchFamily="34" charset="0"/>
                <a:ea typeface="Calibri" pitchFamily="34" charset="-122"/>
                <a:cs typeface="Calibri" pitchFamily="34" charset="-120"/>
              </a:rPr>
              <a:t>Q4. What is the role of metrics in Kaizen?</a:t>
            </a:r>
            <a:endParaRPr lang="en-US" sz="1200" dirty="0"/>
          </a:p>
        </p:txBody>
      </p:sp>
      <p:sp>
        <p:nvSpPr>
          <p:cNvPr id="15" name="Text 13"/>
          <p:cNvSpPr/>
          <p:nvPr/>
        </p:nvSpPr>
        <p:spPr>
          <a:xfrm>
            <a:off x="457200" y="4425696"/>
            <a:ext cx="8229600" cy="47548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Metrics are central. Without measurement, improvement is guesswork. DORA metrics (Deployment Frequency, Lead Time, Change Failure Rate, MTTR) are commonly used in DevOps Kaizen to baseline performance and track incremental gains.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8A97B"/>
          </a:solidFill>
          <a:ln w="12700">
            <a:solidFill>
              <a:srgbClr val="18A97B"/>
            </a:solidFill>
            <a:prstDash val="solid"/>
          </a:ln>
        </p:spPr>
      </p:sp>
      <p:sp>
        <p:nvSpPr>
          <p:cNvPr id="3" name="Shape 1"/>
          <p:cNvSpPr/>
          <p:nvPr/>
        </p:nvSpPr>
        <p:spPr>
          <a:xfrm>
            <a:off x="0" y="73152"/>
            <a:ext cx="320040" cy="5070348"/>
          </a:xfrm>
          <a:prstGeom prst="rect">
            <a:avLst/>
          </a:prstGeom>
          <a:solidFill>
            <a:srgbClr val="0A7C5C"/>
          </a:solidFill>
          <a:ln w="12700">
            <a:solidFill>
              <a:srgbClr val="0A7C5C"/>
            </a:solidFill>
            <a:prstDash val="solid"/>
          </a:ln>
        </p:spPr>
      </p:sp>
      <p:sp>
        <p:nvSpPr>
          <p:cNvPr id="4" name="Text 2"/>
          <p:cNvSpPr/>
          <p:nvPr/>
        </p:nvSpPr>
        <p:spPr>
          <a:xfrm>
            <a:off x="548640" y="274320"/>
            <a:ext cx="8229600" cy="64008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References</a:t>
            </a:r>
            <a:endParaRPr lang="en-US" sz="3400" dirty="0"/>
          </a:p>
        </p:txBody>
      </p:sp>
      <p:sp>
        <p:nvSpPr>
          <p:cNvPr id="5" name="Shape 3"/>
          <p:cNvSpPr/>
          <p:nvPr/>
        </p:nvSpPr>
        <p:spPr>
          <a:xfrm>
            <a:off x="548640" y="960120"/>
            <a:ext cx="2743200" cy="36576"/>
          </a:xfrm>
          <a:prstGeom prst="rect">
            <a:avLst/>
          </a:prstGeom>
          <a:solidFill>
            <a:srgbClr val="F6A623"/>
          </a:solidFill>
          <a:ln w="12700">
            <a:solidFill>
              <a:srgbClr val="F6A623"/>
            </a:solidFill>
            <a:prstDash val="solid"/>
          </a:ln>
        </p:spPr>
      </p:sp>
      <p:sp>
        <p:nvSpPr>
          <p:cNvPr id="6" name="Shape 4"/>
          <p:cNvSpPr/>
          <p:nvPr/>
        </p:nvSpPr>
        <p:spPr>
          <a:xfrm>
            <a:off x="548640" y="1143000"/>
            <a:ext cx="8229600" cy="822960"/>
          </a:xfrm>
          <a:prstGeom prst="rect">
            <a:avLst/>
          </a:prstGeom>
          <a:solidFill>
            <a:srgbClr val="102828"/>
          </a:solidFill>
          <a:ln w="12700">
            <a:solidFill>
              <a:srgbClr val="0A7C5C"/>
            </a:solidFill>
            <a:prstDash val="solid"/>
          </a:ln>
        </p:spPr>
      </p:sp>
      <p:sp>
        <p:nvSpPr>
          <p:cNvPr id="7" name="Text 5"/>
          <p:cNvSpPr/>
          <p:nvPr/>
        </p:nvSpPr>
        <p:spPr>
          <a:xfrm>
            <a:off x="685800" y="1216152"/>
            <a:ext cx="411480" cy="320040"/>
          </a:xfrm>
          <a:prstGeom prst="rect">
            <a:avLst/>
          </a:prstGeom>
          <a:noFill/>
          <a:ln/>
        </p:spPr>
        <p:txBody>
          <a:bodyPr wrap="square" rtlCol="0" anchor="ctr"/>
          <a:lstStyle/>
          <a:p>
            <a:pPr marL="0" indent="0">
              <a:buNone/>
            </a:pPr>
            <a:r>
              <a:rPr lang="en-US" sz="1300" b="1" dirty="0">
                <a:solidFill>
                  <a:srgbClr val="F6A623"/>
                </a:solidFill>
                <a:latin typeface="Georgia" pitchFamily="34" charset="0"/>
                <a:ea typeface="Georgia" pitchFamily="34" charset="-122"/>
                <a:cs typeface="Georgia" pitchFamily="34" charset="-120"/>
              </a:rPr>
              <a:t>[1]</a:t>
            </a:r>
            <a:endParaRPr lang="en-US" sz="1300" dirty="0"/>
          </a:p>
        </p:txBody>
      </p:sp>
      <p:sp>
        <p:nvSpPr>
          <p:cNvPr id="8" name="Text 6"/>
          <p:cNvSpPr/>
          <p:nvPr/>
        </p:nvSpPr>
        <p:spPr>
          <a:xfrm>
            <a:off x="1097280" y="1197864"/>
            <a:ext cx="749808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Imai, M. (1986). Kaizen: The Key to Japan's Competitive Success. Random House.</a:t>
            </a:r>
            <a:endParaRPr lang="en-US" sz="1100" dirty="0"/>
          </a:p>
        </p:txBody>
      </p:sp>
      <p:sp>
        <p:nvSpPr>
          <p:cNvPr id="9" name="Text 7"/>
          <p:cNvSpPr/>
          <p:nvPr/>
        </p:nvSpPr>
        <p:spPr>
          <a:xfrm>
            <a:off x="1097280" y="1508760"/>
            <a:ext cx="7498080" cy="384048"/>
          </a:xfrm>
          <a:prstGeom prst="rect">
            <a:avLst/>
          </a:prstGeom>
          <a:noFill/>
          <a:ln/>
        </p:spPr>
        <p:txBody>
          <a:bodyPr wrap="square" rtlCol="0" anchor="ctr"/>
          <a:lstStyle/>
          <a:p>
            <a:pPr marL="0" indent="0">
              <a:buNone/>
            </a:pPr>
            <a:r>
              <a:rPr lang="en-US" sz="1000" i="1" dirty="0">
                <a:solidFill>
                  <a:srgbClr val="CBD5E0"/>
                </a:solidFill>
                <a:latin typeface="Calibri" pitchFamily="34" charset="0"/>
                <a:ea typeface="Calibri" pitchFamily="34" charset="-122"/>
                <a:cs typeface="Calibri" pitchFamily="34" charset="-120"/>
              </a:rPr>
              <a:t>→ The foundational text on Kaizen. Covers philosophy, techniques, and cultural dimensions. Highly insightful for understanding origins.</a:t>
            </a:r>
            <a:endParaRPr lang="en-US" sz="1000" dirty="0"/>
          </a:p>
        </p:txBody>
      </p:sp>
      <p:sp>
        <p:nvSpPr>
          <p:cNvPr id="10" name="Shape 8"/>
          <p:cNvSpPr/>
          <p:nvPr/>
        </p:nvSpPr>
        <p:spPr>
          <a:xfrm>
            <a:off x="548640" y="2103120"/>
            <a:ext cx="8229600" cy="822960"/>
          </a:xfrm>
          <a:prstGeom prst="rect">
            <a:avLst/>
          </a:prstGeom>
          <a:solidFill>
            <a:srgbClr val="102828"/>
          </a:solidFill>
          <a:ln w="12700">
            <a:solidFill>
              <a:srgbClr val="0A7C5C"/>
            </a:solidFill>
            <a:prstDash val="solid"/>
          </a:ln>
        </p:spPr>
      </p:sp>
      <p:sp>
        <p:nvSpPr>
          <p:cNvPr id="11" name="Text 9"/>
          <p:cNvSpPr/>
          <p:nvPr/>
        </p:nvSpPr>
        <p:spPr>
          <a:xfrm>
            <a:off x="685800" y="2176272"/>
            <a:ext cx="411480" cy="320040"/>
          </a:xfrm>
          <a:prstGeom prst="rect">
            <a:avLst/>
          </a:prstGeom>
          <a:noFill/>
          <a:ln/>
        </p:spPr>
        <p:txBody>
          <a:bodyPr wrap="square" rtlCol="0" anchor="ctr"/>
          <a:lstStyle/>
          <a:p>
            <a:pPr marL="0" indent="0">
              <a:buNone/>
            </a:pPr>
            <a:r>
              <a:rPr lang="en-US" sz="1300" b="1" dirty="0">
                <a:solidFill>
                  <a:srgbClr val="F6A623"/>
                </a:solidFill>
                <a:latin typeface="Georgia" pitchFamily="34" charset="0"/>
                <a:ea typeface="Georgia" pitchFamily="34" charset="-122"/>
                <a:cs typeface="Georgia" pitchFamily="34" charset="-120"/>
              </a:rPr>
              <a:t>[2]</a:t>
            </a:r>
            <a:endParaRPr lang="en-US" sz="1300" dirty="0"/>
          </a:p>
        </p:txBody>
      </p:sp>
      <p:sp>
        <p:nvSpPr>
          <p:cNvPr id="12" name="Text 10"/>
          <p:cNvSpPr/>
          <p:nvPr/>
        </p:nvSpPr>
        <p:spPr>
          <a:xfrm>
            <a:off x="1097280" y="2157984"/>
            <a:ext cx="749808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Kim, G., Humble, J., Debois, P., &amp; Willis, J. (2016). The DevOps Handbook. IT Revolution Press.</a:t>
            </a:r>
            <a:endParaRPr lang="en-US" sz="1100" dirty="0"/>
          </a:p>
        </p:txBody>
      </p:sp>
      <p:sp>
        <p:nvSpPr>
          <p:cNvPr id="13" name="Text 11"/>
          <p:cNvSpPr/>
          <p:nvPr/>
        </p:nvSpPr>
        <p:spPr>
          <a:xfrm>
            <a:off x="1097280" y="2468880"/>
            <a:ext cx="7498080" cy="384048"/>
          </a:xfrm>
          <a:prstGeom prst="rect">
            <a:avLst/>
          </a:prstGeom>
          <a:noFill/>
          <a:ln/>
        </p:spPr>
        <p:txBody>
          <a:bodyPr wrap="square" rtlCol="0" anchor="ctr"/>
          <a:lstStyle/>
          <a:p>
            <a:pPr marL="0" indent="0">
              <a:buNone/>
            </a:pPr>
            <a:r>
              <a:rPr lang="en-US" sz="1000" i="1" dirty="0">
                <a:solidFill>
                  <a:srgbClr val="CBD5E0"/>
                </a:solidFill>
                <a:latin typeface="Calibri" pitchFamily="34" charset="0"/>
                <a:ea typeface="Calibri" pitchFamily="34" charset="-122"/>
                <a:cs typeface="Calibri" pitchFamily="34" charset="-120"/>
              </a:rPr>
              <a:t>→ Deep dive into DevOps practices. Chapter on continuous improvement directly maps Kaizen thinking to CI/CD and feedback loops.</a:t>
            </a:r>
            <a:endParaRPr lang="en-US" sz="1000" dirty="0"/>
          </a:p>
        </p:txBody>
      </p:sp>
      <p:sp>
        <p:nvSpPr>
          <p:cNvPr id="14" name="Shape 12"/>
          <p:cNvSpPr/>
          <p:nvPr/>
        </p:nvSpPr>
        <p:spPr>
          <a:xfrm>
            <a:off x="548640" y="3063240"/>
            <a:ext cx="8229600" cy="822960"/>
          </a:xfrm>
          <a:prstGeom prst="rect">
            <a:avLst/>
          </a:prstGeom>
          <a:solidFill>
            <a:srgbClr val="102828"/>
          </a:solidFill>
          <a:ln w="12700">
            <a:solidFill>
              <a:srgbClr val="0A7C5C"/>
            </a:solidFill>
            <a:prstDash val="solid"/>
          </a:ln>
        </p:spPr>
      </p:sp>
      <p:sp>
        <p:nvSpPr>
          <p:cNvPr id="15" name="Text 13"/>
          <p:cNvSpPr/>
          <p:nvPr/>
        </p:nvSpPr>
        <p:spPr>
          <a:xfrm>
            <a:off x="685800" y="3136392"/>
            <a:ext cx="411480" cy="320040"/>
          </a:xfrm>
          <a:prstGeom prst="rect">
            <a:avLst/>
          </a:prstGeom>
          <a:noFill/>
          <a:ln/>
        </p:spPr>
        <p:txBody>
          <a:bodyPr wrap="square" rtlCol="0" anchor="ctr"/>
          <a:lstStyle/>
          <a:p>
            <a:pPr marL="0" indent="0">
              <a:buNone/>
            </a:pPr>
            <a:r>
              <a:rPr lang="en-US" sz="1300" b="1" dirty="0">
                <a:solidFill>
                  <a:srgbClr val="F6A623"/>
                </a:solidFill>
                <a:latin typeface="Georgia" pitchFamily="34" charset="0"/>
                <a:ea typeface="Georgia" pitchFamily="34" charset="-122"/>
                <a:cs typeface="Georgia" pitchFamily="34" charset="-120"/>
              </a:rPr>
              <a:t>[3]</a:t>
            </a:r>
            <a:endParaRPr lang="en-US" sz="1300" dirty="0"/>
          </a:p>
        </p:txBody>
      </p:sp>
      <p:sp>
        <p:nvSpPr>
          <p:cNvPr id="16" name="Text 14"/>
          <p:cNvSpPr/>
          <p:nvPr/>
        </p:nvSpPr>
        <p:spPr>
          <a:xfrm>
            <a:off x="1097280" y="3118104"/>
            <a:ext cx="749808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Forsgren, N., Humble, J., &amp; Kim, G. (2018). Accelerate. IT Revolution Press.</a:t>
            </a:r>
            <a:endParaRPr lang="en-US" sz="1100" dirty="0"/>
          </a:p>
        </p:txBody>
      </p:sp>
      <p:sp>
        <p:nvSpPr>
          <p:cNvPr id="17" name="Text 15"/>
          <p:cNvSpPr/>
          <p:nvPr/>
        </p:nvSpPr>
        <p:spPr>
          <a:xfrm>
            <a:off x="1097280" y="3429000"/>
            <a:ext cx="7498080" cy="384048"/>
          </a:xfrm>
          <a:prstGeom prst="rect">
            <a:avLst/>
          </a:prstGeom>
          <a:noFill/>
          <a:ln/>
        </p:spPr>
        <p:txBody>
          <a:bodyPr wrap="square" rtlCol="0" anchor="ctr"/>
          <a:lstStyle/>
          <a:p>
            <a:pPr marL="0" indent="0">
              <a:buNone/>
            </a:pPr>
            <a:r>
              <a:rPr lang="en-US" sz="1000" i="1" dirty="0">
                <a:solidFill>
                  <a:srgbClr val="CBD5E0"/>
                </a:solidFill>
                <a:latin typeface="Calibri" pitchFamily="34" charset="0"/>
                <a:ea typeface="Calibri" pitchFamily="34" charset="-122"/>
                <a:cs typeface="Calibri" pitchFamily="34" charset="-120"/>
              </a:rPr>
              <a:t>→ Research-backed analysis of DORA metrics. Shows how incremental delivery improvements correlate with business outcomes.</a:t>
            </a:r>
            <a:endParaRPr lang="en-US" sz="1000" dirty="0"/>
          </a:p>
        </p:txBody>
      </p:sp>
      <p:sp>
        <p:nvSpPr>
          <p:cNvPr id="18" name="Shape 16"/>
          <p:cNvSpPr/>
          <p:nvPr/>
        </p:nvSpPr>
        <p:spPr>
          <a:xfrm>
            <a:off x="548640" y="4023360"/>
            <a:ext cx="8229600" cy="822960"/>
          </a:xfrm>
          <a:prstGeom prst="rect">
            <a:avLst/>
          </a:prstGeom>
          <a:solidFill>
            <a:srgbClr val="102828"/>
          </a:solidFill>
          <a:ln w="12700">
            <a:solidFill>
              <a:srgbClr val="0A7C5C"/>
            </a:solidFill>
            <a:prstDash val="solid"/>
          </a:ln>
        </p:spPr>
      </p:sp>
      <p:sp>
        <p:nvSpPr>
          <p:cNvPr id="19" name="Text 17"/>
          <p:cNvSpPr/>
          <p:nvPr/>
        </p:nvSpPr>
        <p:spPr>
          <a:xfrm>
            <a:off x="685800" y="4096512"/>
            <a:ext cx="411480" cy="320040"/>
          </a:xfrm>
          <a:prstGeom prst="rect">
            <a:avLst/>
          </a:prstGeom>
          <a:noFill/>
          <a:ln/>
        </p:spPr>
        <p:txBody>
          <a:bodyPr wrap="square" rtlCol="0" anchor="ctr"/>
          <a:lstStyle/>
          <a:p>
            <a:pPr marL="0" indent="0">
              <a:buNone/>
            </a:pPr>
            <a:r>
              <a:rPr lang="en-US" sz="1300" b="1" dirty="0">
                <a:solidFill>
                  <a:srgbClr val="F6A623"/>
                </a:solidFill>
                <a:latin typeface="Georgia" pitchFamily="34" charset="0"/>
                <a:ea typeface="Georgia" pitchFamily="34" charset="-122"/>
                <a:cs typeface="Georgia" pitchFamily="34" charset="-120"/>
              </a:rPr>
              <a:t>[4]</a:t>
            </a:r>
            <a:endParaRPr lang="en-US" sz="1300" dirty="0"/>
          </a:p>
        </p:txBody>
      </p:sp>
      <p:sp>
        <p:nvSpPr>
          <p:cNvPr id="20" name="Text 18"/>
          <p:cNvSpPr/>
          <p:nvPr/>
        </p:nvSpPr>
        <p:spPr>
          <a:xfrm>
            <a:off x="1097280" y="4078224"/>
            <a:ext cx="749808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IBM Developer. (2023). DevOps and Continuous Improvement. developer.ibm.com</a:t>
            </a:r>
            <a:endParaRPr lang="en-US" sz="1100" dirty="0"/>
          </a:p>
        </p:txBody>
      </p:sp>
      <p:sp>
        <p:nvSpPr>
          <p:cNvPr id="21" name="Text 19"/>
          <p:cNvSpPr/>
          <p:nvPr/>
        </p:nvSpPr>
        <p:spPr>
          <a:xfrm>
            <a:off x="1097280" y="4389120"/>
            <a:ext cx="7498080" cy="384048"/>
          </a:xfrm>
          <a:prstGeom prst="rect">
            <a:avLst/>
          </a:prstGeom>
          <a:noFill/>
          <a:ln/>
        </p:spPr>
        <p:txBody>
          <a:bodyPr wrap="square" rtlCol="0" anchor="ctr"/>
          <a:lstStyle/>
          <a:p>
            <a:pPr marL="0" indent="0">
              <a:buNone/>
            </a:pPr>
            <a:r>
              <a:rPr lang="en-US" sz="1000" i="1" dirty="0">
                <a:solidFill>
                  <a:srgbClr val="CBD5E0"/>
                </a:solidFill>
                <a:latin typeface="Calibri" pitchFamily="34" charset="0"/>
                <a:ea typeface="Calibri" pitchFamily="34" charset="-122"/>
                <a:cs typeface="Calibri" pitchFamily="34" charset="-120"/>
              </a:rPr>
              <a:t>→ Enterprise perspective on applying Kaizen principles within large-scale DevOps transformations using IBM toolchains.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8A97B"/>
          </a:solidFill>
          <a:ln w="12700">
            <a:solidFill>
              <a:srgbClr val="18A97B"/>
            </a:solidFill>
            <a:prstDash val="solid"/>
          </a:ln>
        </p:spPr>
      </p:sp>
      <p:sp>
        <p:nvSpPr>
          <p:cNvPr id="3" name="Shape 1"/>
          <p:cNvSpPr/>
          <p:nvPr/>
        </p:nvSpPr>
        <p:spPr>
          <a:xfrm>
            <a:off x="0" y="73152"/>
            <a:ext cx="320040" cy="5070348"/>
          </a:xfrm>
          <a:prstGeom prst="rect">
            <a:avLst/>
          </a:prstGeom>
          <a:solidFill>
            <a:srgbClr val="0A7C5C"/>
          </a:solidFill>
          <a:ln w="12700">
            <a:solidFill>
              <a:srgbClr val="0A7C5C"/>
            </a:solidFill>
            <a:prstDash val="solid"/>
          </a:ln>
        </p:spPr>
      </p:sp>
      <p:sp>
        <p:nvSpPr>
          <p:cNvPr id="4" name="Text 2"/>
          <p:cNvSpPr/>
          <p:nvPr/>
        </p:nvSpPr>
        <p:spPr>
          <a:xfrm>
            <a:off x="548640" y="548640"/>
            <a:ext cx="8229600" cy="777240"/>
          </a:xfrm>
          <a:prstGeom prst="rect">
            <a:avLst/>
          </a:prstGeom>
          <a:noFill/>
          <a:ln/>
        </p:spPr>
        <p:txBody>
          <a:bodyPr wrap="square"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Thank You</a:t>
            </a:r>
            <a:endParaRPr lang="en-US" sz="4800" dirty="0"/>
          </a:p>
        </p:txBody>
      </p:sp>
      <p:sp>
        <p:nvSpPr>
          <p:cNvPr id="5" name="Text 3"/>
          <p:cNvSpPr/>
          <p:nvPr/>
        </p:nvSpPr>
        <p:spPr>
          <a:xfrm>
            <a:off x="548640" y="1371600"/>
            <a:ext cx="8229600" cy="457200"/>
          </a:xfrm>
          <a:prstGeom prst="rect">
            <a:avLst/>
          </a:prstGeom>
          <a:noFill/>
          <a:ln/>
        </p:spPr>
        <p:txBody>
          <a:bodyPr wrap="square" rtlCol="0" anchor="ctr"/>
          <a:lstStyle/>
          <a:p>
            <a:pPr marL="0" indent="0">
              <a:buNone/>
            </a:pPr>
            <a:endParaRPr lang="en-US" sz="1400" dirty="0"/>
          </a:p>
        </p:txBody>
      </p:sp>
      <p:sp>
        <p:nvSpPr>
          <p:cNvPr id="7" name="Text 5"/>
          <p:cNvSpPr/>
          <p:nvPr/>
        </p:nvSpPr>
        <p:spPr>
          <a:xfrm>
            <a:off x="548640" y="2084832"/>
            <a:ext cx="8046720" cy="347472"/>
          </a:xfrm>
          <a:prstGeom prst="rect">
            <a:avLst/>
          </a:prstGeom>
          <a:noFill/>
          <a:ln/>
        </p:spPr>
        <p:txBody>
          <a:bodyPr wrap="square" rtlCol="0" anchor="ctr"/>
          <a:lstStyle/>
          <a:p>
            <a:pPr marL="0" indent="0" algn="ctr">
              <a:buNone/>
            </a:pPr>
            <a:endParaRPr lang="en-US" sz="1400" dirty="0"/>
          </a:p>
        </p:txBody>
      </p:sp>
      <p:sp>
        <p:nvSpPr>
          <p:cNvPr id="9" name="Text 7"/>
          <p:cNvSpPr/>
          <p:nvPr/>
        </p:nvSpPr>
        <p:spPr>
          <a:xfrm>
            <a:off x="731520" y="2587752"/>
            <a:ext cx="3840480" cy="201168"/>
          </a:xfrm>
          <a:prstGeom prst="rect">
            <a:avLst/>
          </a:prstGeom>
          <a:noFill/>
          <a:ln/>
        </p:spPr>
        <p:txBody>
          <a:bodyPr wrap="square" rtlCol="0" anchor="ctr"/>
          <a:lstStyle/>
          <a:p>
            <a:pPr marL="0" indent="0">
              <a:buNone/>
            </a:pPr>
            <a:endParaRPr lang="en-US" sz="1200" dirty="0"/>
          </a:p>
        </p:txBody>
      </p:sp>
      <p:sp>
        <p:nvSpPr>
          <p:cNvPr id="10" name="Text 8"/>
          <p:cNvSpPr/>
          <p:nvPr/>
        </p:nvSpPr>
        <p:spPr>
          <a:xfrm>
            <a:off x="731520" y="2779776"/>
            <a:ext cx="7680960" cy="182880"/>
          </a:xfrm>
          <a:prstGeom prst="rect">
            <a:avLst/>
          </a:prstGeom>
          <a:noFill/>
          <a:ln/>
        </p:spPr>
        <p:txBody>
          <a:bodyPr wrap="square" rtlCol="0" anchor="ctr"/>
          <a:lstStyle/>
          <a:p>
            <a:pPr marL="0" indent="0">
              <a:buNone/>
            </a:pPr>
            <a:endParaRPr lang="en-US" sz="1050" dirty="0"/>
          </a:p>
        </p:txBody>
      </p:sp>
      <p:sp>
        <p:nvSpPr>
          <p:cNvPr id="11" name="Text 9"/>
          <p:cNvSpPr/>
          <p:nvPr/>
        </p:nvSpPr>
        <p:spPr>
          <a:xfrm>
            <a:off x="548640" y="3310128"/>
            <a:ext cx="8229600" cy="1673352"/>
          </a:xfrm>
          <a:prstGeom prst="rect">
            <a:avLst/>
          </a:prstGeom>
          <a:noFill/>
          <a:ln/>
        </p:spPr>
        <p:txBody>
          <a:bodyPr wrap="square" rtlCol="0" anchor="ctr"/>
          <a:lstStyle/>
          <a:p>
            <a:pPr marL="0" indent="0" algn="ctr">
              <a:buNone/>
            </a:pPr>
            <a:r>
              <a:rPr lang="en-US" sz="1100" i="1" dirty="0">
                <a:solidFill>
                  <a:srgbClr val="CBD5E0"/>
                </a:solidFill>
                <a:latin typeface="Calibri" pitchFamily="34" charset="0"/>
                <a:ea typeface="Calibri" pitchFamily="34" charset="-122"/>
                <a:cs typeface="Calibri" pitchFamily="34" charset="-120"/>
              </a:rPr>
              <a:t>Subject: Containerization &amp; DevOps   |   SAP ID: 500121132   |   Topic 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1142</Words>
  <Application>Microsoft Office PowerPoint</Application>
  <PresentationFormat>On-screen Show (16:9)</PresentationFormat>
  <Paragraphs>150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Kaizen and Continuous Improvement</dc:title>
  <dc:subject>PptxGenJS Presentation</dc:subject>
  <dc:creator>Saumil Mishra</dc:creator>
  <cp:lastModifiedBy>saumil mishra</cp:lastModifiedBy>
  <cp:revision>3</cp:revision>
  <dcterms:created xsi:type="dcterms:W3CDTF">2026-04-20T17:37:22Z</dcterms:created>
  <dcterms:modified xsi:type="dcterms:W3CDTF">2026-05-01T11:12:38Z</dcterms:modified>
</cp:coreProperties>
</file>